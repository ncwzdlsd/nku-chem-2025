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5" r:id="rId4"/>
  </p:sldMasterIdLst>
  <p:notesMasterIdLst>
    <p:notesMasterId r:id="rId9"/>
  </p:notesMasterIdLst>
  <p:handoutMasterIdLst>
    <p:handoutMasterId r:id="rId17"/>
  </p:handoutMasterIdLst>
  <p:sldIdLst>
    <p:sldId id="257" r:id="rId5"/>
    <p:sldId id="258" r:id="rId6"/>
    <p:sldId id="259" r:id="rId7"/>
    <p:sldId id="520" r:id="rId8"/>
    <p:sldId id="494" r:id="rId10"/>
    <p:sldId id="529" r:id="rId11"/>
    <p:sldId id="499" r:id="rId12"/>
    <p:sldId id="525" r:id="rId13"/>
    <p:sldId id="504" r:id="rId14"/>
    <p:sldId id="530" r:id="rId15"/>
    <p:sldId id="532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B0261"/>
    <a:srgbClr val="E1D7DF"/>
    <a:srgbClr val="B9A3B5"/>
    <a:srgbClr val="EDE7EC"/>
    <a:srgbClr val="E0D7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E70DF9-C251-406E-95B7-839C2E3FFD9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B1AD9-50C8-4C2E-8A08-D0B1FB3488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B1AD9-50C8-4C2E-8A08-D0B1FB3488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B1AD9-50C8-4C2E-8A08-D0B1FB3488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9B1AD9-50C8-4C2E-8A08-D0B1FB3488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CC8-80CA-4952-873B-B90AFBB50FB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7B491-F125-4D81-8C98-61C6C51FA30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005F-A24C-42F9-9BF0-25098C4588A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5BC-A300-42AE-8558-568B763D02D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8002-C763-4DF7-95ED-8B866BE4A07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4F6C-55F4-4777-963D-798C8AE4F1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9F21C-9FEC-4B55-A8F6-C068DD38E4D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F256-3E5B-45FD-93C3-34F1247DF4C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A6458-0DEF-434E-94B6-F60BDE3954B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4E60-635E-4E13-8D82-A39430DAB0E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03C8-0911-47CA-B5E2-B3906C8A84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0849147" y="6382534"/>
            <a:ext cx="1093711" cy="369332"/>
          </a:xfrm>
          <a:prstGeom prst="rect">
            <a:avLst/>
          </a:prstGeom>
        </p:spPr>
        <p:txBody>
          <a:bodyPr lIns="91440" tIns="45720" rIns="91440" bIns="45720"/>
          <a:lstStyle/>
          <a:p>
            <a:pPr algn="ctr">
              <a:defRPr/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287186" y="99791"/>
            <a:ext cx="2608506" cy="8941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516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10330283" y="6529705"/>
            <a:ext cx="1033515" cy="296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zh-CN" altLang="en-US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1219200"/>
            <a:r>
              <a:rPr lang="en-US" altLang="zh-CN" sz="135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35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44CC8-80CA-4952-873B-B90AFBB50FB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7B491-F125-4D81-8C98-61C6C51FA30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005F-A24C-42F9-9BF0-25098C4588A1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465BC-A300-42AE-8558-568B763D02D3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68002-C763-4DF7-95ED-8B866BE4A074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94F6C-55F4-4777-963D-798C8AE4F1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9F21C-9FEC-4B55-A8F6-C068DD38E4D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F256-3E5B-45FD-93C3-34F1247DF4C6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A6458-0DEF-434E-94B6-F60BDE3954B8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A4E60-635E-4E13-8D82-A39430DAB0E8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03C8-0911-47CA-B5E2-B3906C8A84A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6B4473-E3CC-40DB-A77B-8A1A919B8C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C6C1-F302-4436-8113-19B51CEF8A7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>
    <mc:Choice xmlns:p14="http://schemas.microsoft.com/office/powerpoint/2010/main" Requires="p14">
      <p:transition spd="med" p14:dur="700" advTm="0">
        <p:fade/>
      </p:transition>
    </mc:Choice>
    <mc:Fallback>
      <p:transition spd="med" advTm="0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356870" indent="-356870" algn="just" defTabSz="914400" rtl="0" eaLnBrk="1" latinLnBrk="0" hangingPunct="1">
        <a:lnSpc>
          <a:spcPct val="110000"/>
        </a:lnSpc>
        <a:spcBef>
          <a:spcPts val="180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20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356870" indent="-356870" algn="just" defTabSz="914400" rtl="0" eaLnBrk="1" latinLnBrk="0" hangingPunct="1">
        <a:lnSpc>
          <a:spcPct val="130000"/>
        </a:lnSpc>
        <a:spcBef>
          <a:spcPts val="0"/>
        </a:spcBef>
        <a:spcAft>
          <a:spcPts val="6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6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DDC6C1-F302-4436-8113-19B51CEF8A70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6" Type="http://schemas.openxmlformats.org/officeDocument/2006/relationships/slideLayout" Target="../slideLayouts/slideLayout1.xml"/><Relationship Id="rId15" Type="http://schemas.openxmlformats.org/officeDocument/2006/relationships/themeOverride" Target="../theme/themeOverride2.xml"/><Relationship Id="rId14" Type="http://schemas.openxmlformats.org/officeDocument/2006/relationships/image" Target="../media/image6.jpeg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3.xml"/><Relationship Id="rId2" Type="http://schemas.openxmlformats.org/officeDocument/2006/relationships/image" Target="../media/image1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image" Target="../media/image1.png"/><Relationship Id="rId22" Type="http://schemas.openxmlformats.org/officeDocument/2006/relationships/notesSlide" Target="../notesSlides/notesSlide1.xml"/><Relationship Id="rId21" Type="http://schemas.openxmlformats.org/officeDocument/2006/relationships/slideLayout" Target="../slideLayouts/slideLayout12.xml"/><Relationship Id="rId20" Type="http://schemas.openxmlformats.org/officeDocument/2006/relationships/image" Target="../media/image10.jpeg"/><Relationship Id="rId2" Type="http://schemas.openxmlformats.org/officeDocument/2006/relationships/image" Target="../media/image2.png"/><Relationship Id="rId19" Type="http://schemas.openxmlformats.org/officeDocument/2006/relationships/image" Target="../media/image9.jpeg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image" Target="../media/image8.png"/><Relationship Id="rId14" Type="http://schemas.openxmlformats.org/officeDocument/2006/relationships/tags" Target="../tags/tag22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4.xml"/><Relationship Id="rId2" Type="http://schemas.openxmlformats.org/officeDocument/2006/relationships/image" Target="../media/image1.pn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image" Target="../media/image1.png"/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2.png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tags" Target="../tags/tag2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5.xml"/><Relationship Id="rId2" Type="http://schemas.openxmlformats.org/officeDocument/2006/relationships/image" Target="../media/image1.png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7" Type="http://schemas.openxmlformats.org/officeDocument/2006/relationships/notesSlide" Target="../notesSlides/notesSlide3.xml"/><Relationship Id="rId36" Type="http://schemas.openxmlformats.org/officeDocument/2006/relationships/slideLayout" Target="../slideLayouts/slideLayout12.xml"/><Relationship Id="rId35" Type="http://schemas.openxmlformats.org/officeDocument/2006/relationships/tags" Target="../tags/tag65.xml"/><Relationship Id="rId34" Type="http://schemas.openxmlformats.org/officeDocument/2006/relationships/tags" Target="../tags/tag64.xml"/><Relationship Id="rId33" Type="http://schemas.openxmlformats.org/officeDocument/2006/relationships/tags" Target="../tags/tag63.xml"/><Relationship Id="rId32" Type="http://schemas.openxmlformats.org/officeDocument/2006/relationships/tags" Target="../tags/tag62.xml"/><Relationship Id="rId31" Type="http://schemas.openxmlformats.org/officeDocument/2006/relationships/tags" Target="../tags/tag61.xml"/><Relationship Id="rId30" Type="http://schemas.openxmlformats.org/officeDocument/2006/relationships/tags" Target="../tags/tag60.xml"/><Relationship Id="rId3" Type="http://schemas.openxmlformats.org/officeDocument/2006/relationships/tags" Target="../tags/tag38.xml"/><Relationship Id="rId29" Type="http://schemas.openxmlformats.org/officeDocument/2006/relationships/tags" Target="../tags/tag59.xml"/><Relationship Id="rId28" Type="http://schemas.openxmlformats.org/officeDocument/2006/relationships/image" Target="../media/image16.jpeg"/><Relationship Id="rId27" Type="http://schemas.openxmlformats.org/officeDocument/2006/relationships/tags" Target="../tags/tag58.xml"/><Relationship Id="rId26" Type="http://schemas.openxmlformats.org/officeDocument/2006/relationships/image" Target="../media/image15.jpeg"/><Relationship Id="rId25" Type="http://schemas.openxmlformats.org/officeDocument/2006/relationships/tags" Target="../tags/tag57.xml"/><Relationship Id="rId24" Type="http://schemas.openxmlformats.org/officeDocument/2006/relationships/image" Target="../media/image14.jpeg"/><Relationship Id="rId23" Type="http://schemas.openxmlformats.org/officeDocument/2006/relationships/tags" Target="../tags/tag56.xml"/><Relationship Id="rId22" Type="http://schemas.openxmlformats.org/officeDocument/2006/relationships/tags" Target="../tags/tag55.xml"/><Relationship Id="rId21" Type="http://schemas.openxmlformats.org/officeDocument/2006/relationships/tags" Target="../tags/tag54.xml"/><Relationship Id="rId20" Type="http://schemas.openxmlformats.org/officeDocument/2006/relationships/tags" Target="../tags/tag53.xml"/><Relationship Id="rId2" Type="http://schemas.openxmlformats.org/officeDocument/2006/relationships/image" Target="../media/image8.png"/><Relationship Id="rId19" Type="http://schemas.openxmlformats.org/officeDocument/2006/relationships/tags" Target="../tags/tag52.xml"/><Relationship Id="rId18" Type="http://schemas.openxmlformats.org/officeDocument/2006/relationships/tags" Target="../tags/tag51.xml"/><Relationship Id="rId17" Type="http://schemas.openxmlformats.org/officeDocument/2006/relationships/tags" Target="../tags/tag50.xml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image" Target="../media/image1.png"/><Relationship Id="rId13" Type="http://schemas.openxmlformats.org/officeDocument/2006/relationships/tags" Target="../tags/tag47.xml"/><Relationship Id="rId12" Type="http://schemas.openxmlformats.org/officeDocument/2006/relationships/image" Target="../media/image2.png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6.xml"/><Relationship Id="rId2" Type="http://schemas.openxmlformats.org/officeDocument/2006/relationships/image" Target="../media/image1.png"/><Relationship Id="rId1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tags" Target="../tags/tag70.xml"/><Relationship Id="rId7" Type="http://schemas.openxmlformats.org/officeDocument/2006/relationships/image" Target="../media/image18.jpeg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6.xml"/><Relationship Id="rId3" Type="http://schemas.openxmlformats.org/officeDocument/2006/relationships/themeOverride" Target="../theme/themeOverride7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25616/Desktop/微信图片_20250723234624.jpg微信图片_20250723234624"/>
          <p:cNvPicPr>
            <a:picLocks noChangeAspect="1"/>
          </p:cNvPicPr>
          <p:nvPr/>
        </p:nvPicPr>
        <p:blipFill>
          <a:blip r:embed="rId1">
            <a:alphaModFix amt="70000"/>
            <a:lum bright="-6000"/>
          </a:blip>
          <a:srcRect t="21482" b="21482"/>
          <a:stretch>
            <a:fillRect/>
          </a:stretch>
        </p:blipFill>
        <p:spPr>
          <a:xfrm>
            <a:off x="0" y="-1"/>
            <a:ext cx="12191999" cy="3911142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546100" y="4398644"/>
            <a:ext cx="11399520" cy="1708613"/>
            <a:chOff x="636250" y="4296564"/>
            <a:chExt cx="11399243" cy="1960753"/>
          </a:xfrm>
        </p:grpSpPr>
        <p:sp>
          <p:nvSpPr>
            <p:cNvPr id="6" name="文本占位符 3"/>
            <p:cNvSpPr txBox="1"/>
            <p:nvPr/>
          </p:nvSpPr>
          <p:spPr>
            <a:xfrm>
              <a:off x="636250" y="4296564"/>
              <a:ext cx="11399243" cy="961164"/>
            </a:xfrm>
            <a:prstGeom prst="rect">
              <a:avLst/>
            </a:prstGeom>
            <a:noFill/>
          </p:spPr>
          <p:txBody>
            <a:bodyPr vert="horz" wrap="square" lIns="91413" tIns="45706" rIns="91413" bIns="45706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6000" b="1" kern="1200" dirty="0" smtClean="0">
                  <a:solidFill>
                    <a:srgbClr val="0C98F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5400" dirty="0">
                  <a:solidFill>
                    <a:schemeClr val="accent1"/>
                  </a:solidFill>
                </a:rPr>
                <a:t>为什么挠痒越挠越痒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03886" y="5892235"/>
              <a:ext cx="3714660" cy="365082"/>
              <a:chOff x="928986" y="5797246"/>
              <a:chExt cx="3714660" cy="365082"/>
            </a:xfrm>
          </p:grpSpPr>
          <p:sp>
            <p:nvSpPr>
              <p:cNvPr id="14" name="文本框 22"/>
              <p:cNvSpPr txBox="1"/>
              <p:nvPr/>
            </p:nvSpPr>
            <p:spPr>
              <a:xfrm>
                <a:off x="1209649" y="5810363"/>
                <a:ext cx="3433997" cy="35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汇报人：李一宁、包家欣</a:t>
                </a:r>
                <a:r>
                  <a:rPr kumimoji="0" lang="zh-C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、</a:t>
                </a: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李光哲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speaker-giving-a-lecture-on-a-stand_33708"/>
              <p:cNvSpPr/>
              <p:nvPr/>
            </p:nvSpPr>
            <p:spPr bwMode="auto">
              <a:xfrm>
                <a:off x="928986" y="5797246"/>
                <a:ext cx="280838" cy="280413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</p:grpSp>
      <p:sp>
        <p:nvSpPr>
          <p:cNvPr id="20" name="矩形 19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3548" y="6381340"/>
            <a:ext cx="2112008" cy="303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" r="31"/>
          <a:stretch>
            <a:fillRect/>
          </a:stretch>
        </p:blipFill>
        <p:spPr>
          <a:xfrm>
            <a:off x="0" y="0"/>
            <a:ext cx="12191999" cy="687299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255" y="0"/>
            <a:ext cx="12191999" cy="6872990"/>
          </a:xfrm>
          <a:prstGeom prst="rect">
            <a:avLst/>
          </a:prstGeom>
          <a:gradFill flip="none" rotWithShape="1">
            <a:gsLst>
              <a:gs pos="885">
                <a:schemeClr val="bg1"/>
              </a:gs>
              <a:gs pos="44000">
                <a:schemeClr val="bg1">
                  <a:alpha val="8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标题 4"/>
          <p:cNvSpPr txBox="1"/>
          <p:nvPr/>
        </p:nvSpPr>
        <p:spPr>
          <a:xfrm>
            <a:off x="488039" y="551715"/>
            <a:ext cx="1840453" cy="78779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dist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6000" b="1" kern="1200" spc="60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1200" cap="none" spc="60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b="1" i="0" u="none" strike="noStrike" kern="1200" cap="none" spc="60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连接符 55"/>
          <p:cNvCxnSpPr/>
          <p:nvPr/>
        </p:nvCxnSpPr>
        <p:spPr>
          <a:xfrm flipV="1">
            <a:off x="2503814" y="596670"/>
            <a:ext cx="237886" cy="74283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图片 4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6682632" y="1659470"/>
            <a:ext cx="5533653" cy="4220633"/>
            <a:chOff x="6363319" y="1659470"/>
            <a:chExt cx="5533653" cy="4220633"/>
          </a:xfrm>
        </p:grpSpPr>
        <p:sp>
          <p:nvSpPr>
            <p:cNvPr id="16" name="矩形: 圆角 15"/>
            <p:cNvSpPr/>
            <p:nvPr>
              <p:custDataLst>
                <p:tags r:id="rId5"/>
              </p:custDataLst>
            </p:nvPr>
          </p:nvSpPr>
          <p:spPr>
            <a:xfrm>
              <a:off x="6363319" y="1659470"/>
              <a:ext cx="4539631" cy="4220633"/>
            </a:xfrm>
            <a:prstGeom prst="roundRect">
              <a:avLst>
                <a:gd name="adj" fmla="val 11631"/>
              </a:avLst>
            </a:prstGeom>
            <a:solidFill>
              <a:srgbClr val="E1D7D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占位符 5"/>
            <p:cNvSpPr txBox="1"/>
            <p:nvPr>
              <p:custDataLst>
                <p:tags r:id="rId6"/>
              </p:custDataLst>
            </p:nvPr>
          </p:nvSpPr>
          <p:spPr>
            <a:xfrm>
              <a:off x="7752733" y="2069062"/>
              <a:ext cx="411632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痒觉的产生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占位符 7"/>
            <p:cNvSpPr txBox="1"/>
            <p:nvPr>
              <p:custDataLst>
                <p:tags r:id="rId7"/>
              </p:custDataLst>
            </p:nvPr>
          </p:nvSpPr>
          <p:spPr>
            <a:xfrm>
              <a:off x="7752733" y="3995936"/>
              <a:ext cx="411632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3600" b="1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为什么越挠越痒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2400" noProof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为什么挠痒停不下来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占位符 9"/>
            <p:cNvSpPr txBox="1"/>
            <p:nvPr>
              <p:custDataLst>
                <p:tags r:id="rId8"/>
              </p:custDataLst>
            </p:nvPr>
          </p:nvSpPr>
          <p:spPr>
            <a:xfrm>
              <a:off x="7752733" y="4959372"/>
              <a:ext cx="414423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en-US" sz="3600" b="1" kern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痒觉的意义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如何科学止痒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占位符 11"/>
            <p:cNvSpPr txBox="1"/>
            <p:nvPr>
              <p:custDataLst>
                <p:tags r:id="rId9"/>
              </p:custDataLst>
            </p:nvPr>
          </p:nvSpPr>
          <p:spPr>
            <a:xfrm>
              <a:off x="7752733" y="3032499"/>
              <a:ext cx="4116329" cy="644487"/>
            </a:xfrm>
            <a:prstGeom prst="rect">
              <a:avLst/>
            </a:prstGeom>
          </p:spPr>
          <p:txBody>
            <a:bodyPr vert="horz" lIns="0" tIns="45720" rIns="0" bIns="4572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为什么挠痒让人舒服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为什么挠痒会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“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传染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6B026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”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6B026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椭圆 1"/>
            <p:cNvSpPr/>
            <p:nvPr>
              <p:custDataLst>
                <p:tags r:id="rId10"/>
              </p:custDataLst>
            </p:nvPr>
          </p:nvSpPr>
          <p:spPr>
            <a:xfrm>
              <a:off x="6680496" y="1861081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椭圆 3"/>
            <p:cNvSpPr/>
            <p:nvPr>
              <p:custDataLst>
                <p:tags r:id="rId11"/>
              </p:custDataLst>
            </p:nvPr>
          </p:nvSpPr>
          <p:spPr>
            <a:xfrm>
              <a:off x="6680496" y="2877434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椭圆 4"/>
            <p:cNvSpPr/>
            <p:nvPr>
              <p:custDataLst>
                <p:tags r:id="rId12"/>
              </p:custDataLst>
            </p:nvPr>
          </p:nvSpPr>
          <p:spPr>
            <a:xfrm>
              <a:off x="6680496" y="3893787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椭圆 5"/>
            <p:cNvSpPr/>
            <p:nvPr>
              <p:custDataLst>
                <p:tags r:id="rId13"/>
              </p:custDataLst>
            </p:nvPr>
          </p:nvSpPr>
          <p:spPr>
            <a:xfrm>
              <a:off x="6680496" y="4910140"/>
              <a:ext cx="742950" cy="7429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流程图: 数据 12"/>
          <p:cNvSpPr/>
          <p:nvPr/>
        </p:nvSpPr>
        <p:spPr>
          <a:xfrm>
            <a:off x="912872" y="1659470"/>
            <a:ext cx="4915811" cy="4220633"/>
          </a:xfrm>
          <a:prstGeom prst="flowChartInputOutput">
            <a:avLst/>
          </a:prstGeom>
          <a:solidFill>
            <a:srgbClr val="EDE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流程图: 数据 11"/>
          <p:cNvSpPr/>
          <p:nvPr/>
        </p:nvSpPr>
        <p:spPr>
          <a:xfrm>
            <a:off x="710585" y="1659471"/>
            <a:ext cx="4915811" cy="4220633"/>
          </a:xfrm>
          <a:prstGeom prst="flowChartInputOutput">
            <a:avLst/>
          </a:prstGeom>
          <a:gradFill flip="none" rotWithShape="1">
            <a:gsLst>
              <a:gs pos="0">
                <a:srgbClr val="6B0261">
                  <a:tint val="66000"/>
                  <a:satMod val="160000"/>
                </a:srgbClr>
              </a:gs>
              <a:gs pos="50000">
                <a:srgbClr val="6B0261">
                  <a:tint val="44500"/>
                  <a:satMod val="160000"/>
                </a:srgbClr>
              </a:gs>
              <a:gs pos="100000">
                <a:srgbClr val="6B0261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数据 9"/>
          <p:cNvSpPr/>
          <p:nvPr/>
        </p:nvSpPr>
        <p:spPr>
          <a:xfrm>
            <a:off x="488039" y="1659472"/>
            <a:ext cx="4915811" cy="4220633"/>
          </a:xfrm>
          <a:prstGeom prst="flowChartInputOutpu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4100" y="1659472"/>
            <a:ext cx="6330950" cy="4220633"/>
          </a:xfrm>
          <a:prstGeom prst="parallelogram">
            <a:avLst>
              <a:gd name="adj" fmla="val 24850"/>
            </a:avLst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2" name="矩形 1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直角三角形 2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C:/Users/25616/Desktop/微信图片_20250723234641.jpg微信图片_20250723234641"/>
          <p:cNvPicPr>
            <a:picLocks noChangeAspect="1"/>
          </p:cNvPicPr>
          <p:nvPr/>
        </p:nvPicPr>
        <p:blipFill>
          <a:blip r:embed="rId1">
            <a:alphaModFix amt="70000"/>
          </a:blip>
          <a:srcRect t="17240" b="17240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6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867834"/>
            <a:ext cx="6424116" cy="83756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痒觉的产生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>
            <p:custDataLst>
              <p:tags r:id="rId1"/>
            </p:custDataLst>
          </p:nvPr>
        </p:nvSpPr>
        <p:spPr>
          <a:xfrm>
            <a:off x="5704918" y="1308283"/>
            <a:ext cx="5936343" cy="967165"/>
          </a:xfrm>
          <a:prstGeom prst="roundRect">
            <a:avLst/>
          </a:prstGeom>
          <a:solidFill>
            <a:srgbClr val="E1D7DF">
              <a:alpha val="6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皮肤刺激：蚊虫叮咬、过敏、干燥或炎症反应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40610" y="190546"/>
            <a:ext cx="3723003" cy="633732"/>
            <a:chOff x="513139" y="331796"/>
            <a:chExt cx="3723003" cy="63373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30572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请输入你的标题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4274456" y="1174200"/>
            <a:ext cx="1283075" cy="4860235"/>
            <a:chOff x="4049435" y="1167699"/>
            <a:chExt cx="1283075" cy="4860235"/>
          </a:xfrm>
          <a:effectLst>
            <a:outerShdw blurRad="127000" dist="50800" dir="5400000" algn="ctr" rotWithShape="0">
              <a:schemeClr val="bg2">
                <a:lumMod val="50000"/>
                <a:alpha val="50000"/>
              </a:schemeClr>
            </a:outerShdw>
          </a:effectLst>
        </p:grpSpPr>
        <p:grpSp>
          <p:nvGrpSpPr>
            <p:cNvPr id="44" name="组合 43"/>
            <p:cNvGrpSpPr/>
            <p:nvPr>
              <p:custDataLst>
                <p:tags r:id="rId5"/>
              </p:custDataLst>
            </p:nvPr>
          </p:nvGrpSpPr>
          <p:grpSpPr>
            <a:xfrm>
              <a:off x="4049435" y="1167699"/>
              <a:ext cx="1283075" cy="4860235"/>
              <a:chOff x="1763643" y="1731147"/>
              <a:chExt cx="1283075" cy="4860235"/>
            </a:xfrm>
            <a:solidFill>
              <a:srgbClr val="990100"/>
            </a:solidFill>
          </p:grpSpPr>
          <p:sp>
            <p:nvSpPr>
              <p:cNvPr id="45" name="学论网-www.xuelun.me"/>
              <p:cNvSpPr/>
              <p:nvPr>
                <p:custDataLst>
                  <p:tags r:id="rId6"/>
                </p:custDataLst>
              </p:nvPr>
            </p:nvSpPr>
            <p:spPr>
              <a:xfrm rot="5400000">
                <a:off x="1763643" y="1731147"/>
                <a:ext cx="1283075" cy="1283075"/>
              </a:xfrm>
              <a:prstGeom prst="blockArc">
                <a:avLst>
                  <a:gd name="adj1" fmla="val 10800000"/>
                  <a:gd name="adj2" fmla="val 149699"/>
                  <a:gd name="adj3" fmla="val 6982"/>
                </a:avLst>
              </a:prstGeom>
              <a:solidFill>
                <a:srgbClr val="6B0261"/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2" name="学论网-www.xuelun.me"/>
              <p:cNvSpPr/>
              <p:nvPr>
                <p:custDataLst>
                  <p:tags r:id="rId7"/>
                </p:custDataLst>
              </p:nvPr>
            </p:nvSpPr>
            <p:spPr>
              <a:xfrm rot="16200000" flipH="1">
                <a:off x="1763643" y="2922916"/>
                <a:ext cx="1283075" cy="1283075"/>
              </a:xfrm>
              <a:prstGeom prst="blockArc">
                <a:avLst>
                  <a:gd name="adj1" fmla="val 10800000"/>
                  <a:gd name="adj2" fmla="val 149699"/>
                  <a:gd name="adj3" fmla="val 6982"/>
                </a:avLst>
              </a:prstGeom>
              <a:solidFill>
                <a:srgbClr val="6B0261"/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3" name="学论网-www.xuelun.me"/>
              <p:cNvSpPr/>
              <p:nvPr>
                <p:custDataLst>
                  <p:tags r:id="rId8"/>
                </p:custDataLst>
              </p:nvPr>
            </p:nvSpPr>
            <p:spPr>
              <a:xfrm rot="5400000">
                <a:off x="1763643" y="4116538"/>
                <a:ext cx="1283075" cy="1283075"/>
              </a:xfrm>
              <a:prstGeom prst="blockArc">
                <a:avLst>
                  <a:gd name="adj1" fmla="val 10800000"/>
                  <a:gd name="adj2" fmla="val 149699"/>
                  <a:gd name="adj3" fmla="val 6982"/>
                </a:avLst>
              </a:prstGeom>
              <a:solidFill>
                <a:srgbClr val="6B0261"/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84" name="学论网-www.xuelun.me"/>
              <p:cNvSpPr/>
              <p:nvPr>
                <p:custDataLst>
                  <p:tags r:id="rId9"/>
                </p:custDataLst>
              </p:nvPr>
            </p:nvSpPr>
            <p:spPr>
              <a:xfrm rot="16200000" flipH="1">
                <a:off x="1763643" y="5308307"/>
                <a:ext cx="1283075" cy="1283075"/>
              </a:xfrm>
              <a:prstGeom prst="blockArc">
                <a:avLst>
                  <a:gd name="adj1" fmla="val 10800000"/>
                  <a:gd name="adj2" fmla="val 149699"/>
                  <a:gd name="adj3" fmla="val 6982"/>
                </a:avLst>
              </a:prstGeom>
              <a:solidFill>
                <a:srgbClr val="6B0261"/>
              </a:solidFill>
              <a:ln w="1270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</p:grpSp>
        <p:sp>
          <p:nvSpPr>
            <p:cNvPr id="85" name="学论网-www.xuelun.me"/>
            <p:cNvSpPr/>
            <p:nvPr>
              <p:custDataLst>
                <p:tags r:id="rId10"/>
              </p:custDataLst>
            </p:nvPr>
          </p:nvSpPr>
          <p:spPr>
            <a:xfrm>
              <a:off x="4233772" y="1361048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1.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学论网-www.xuelun.me"/>
            <p:cNvSpPr/>
            <p:nvPr>
              <p:custDataLst>
                <p:tags r:id="rId11"/>
              </p:custDataLst>
            </p:nvPr>
          </p:nvSpPr>
          <p:spPr>
            <a:xfrm>
              <a:off x="4233772" y="2550210"/>
              <a:ext cx="914400" cy="914400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2.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学论网-www.xuelun.me"/>
            <p:cNvSpPr/>
            <p:nvPr>
              <p:custDataLst>
                <p:tags r:id="rId12"/>
              </p:custDataLst>
            </p:nvPr>
          </p:nvSpPr>
          <p:spPr>
            <a:xfrm>
              <a:off x="4233772" y="3739372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3.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学论网-www.xuelun.me"/>
            <p:cNvSpPr/>
            <p:nvPr>
              <p:custDataLst>
                <p:tags r:id="rId13"/>
              </p:custDataLst>
            </p:nvPr>
          </p:nvSpPr>
          <p:spPr>
            <a:xfrm>
              <a:off x="4233772" y="4928534"/>
              <a:ext cx="914400" cy="914400"/>
            </a:xfrm>
            <a:prstGeom prst="ellipse">
              <a:avLst/>
            </a:prstGeom>
            <a:solidFill>
              <a:sysClr val="window" lastClr="FFFFFF">
                <a:lumMod val="5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4.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2695" y="2303304"/>
            <a:ext cx="5798456" cy="5762171"/>
          </a:xfrm>
          <a:prstGeom prst="rect">
            <a:avLst/>
          </a:prstGeom>
        </p:spPr>
      </p:pic>
      <p:sp>
        <p:nvSpPr>
          <p:cNvPr id="8" name="矩形: 圆角 7"/>
          <p:cNvSpPr/>
          <p:nvPr>
            <p:custDataLst>
              <p:tags r:id="rId16"/>
            </p:custDataLst>
          </p:nvPr>
        </p:nvSpPr>
        <p:spPr>
          <a:xfrm>
            <a:off x="5704918" y="2497445"/>
            <a:ext cx="5936343" cy="967165"/>
          </a:xfrm>
          <a:prstGeom prst="round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致痒物质释放：组胺、细胞因子等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: 圆角 8"/>
          <p:cNvSpPr/>
          <p:nvPr>
            <p:custDataLst>
              <p:tags r:id="rId17"/>
            </p:custDataLst>
          </p:nvPr>
        </p:nvSpPr>
        <p:spPr>
          <a:xfrm>
            <a:off x="5704918" y="3680463"/>
            <a:ext cx="5936343" cy="967165"/>
          </a:xfrm>
          <a:prstGeom prst="roundRect">
            <a:avLst/>
          </a:prstGeom>
          <a:solidFill>
            <a:srgbClr val="B9A3B5">
              <a:alpha val="6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致痒物质作用于感觉神经末梢上的受体，使神经兴奋，产生刺激信号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>
            <p:custDataLst>
              <p:tags r:id="rId18"/>
            </p:custDataLst>
          </p:nvPr>
        </p:nvSpPr>
        <p:spPr>
          <a:xfrm>
            <a:off x="5704918" y="4875769"/>
            <a:ext cx="5936343" cy="967165"/>
          </a:xfrm>
          <a:prstGeom prst="roundRect">
            <a:avLst/>
          </a:prstGeom>
          <a:solidFill>
            <a:schemeClr val="bg1"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kern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神经冲动沿传入神经纤维到中枢神经系统，在大脑皮层产生痒的感觉</a:t>
            </a:r>
            <a:endParaRPr lang="zh-CN" altLang="en-US" sz="1400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58" y="1253590"/>
            <a:ext cx="3065573" cy="2043715"/>
          </a:xfrm>
          <a:prstGeom prst="roundRect">
            <a:avLst/>
          </a:prstGeom>
          <a:effectLst>
            <a:outerShdw blurRad="127000" dist="50800" dir="5400000" algn="ctr" rotWithShape="0">
              <a:schemeClr val="bg2">
                <a:lumMod val="50000"/>
              </a:schemeClr>
            </a:outerShdw>
          </a:effectLst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857" y="3616963"/>
            <a:ext cx="3129930" cy="2086620"/>
          </a:xfrm>
          <a:prstGeom prst="roundRect">
            <a:avLst/>
          </a:prstGeom>
          <a:effectLst>
            <a:outerShdw blurRad="127000" dist="50800" dir="5400000" algn="ctr" rotWithShape="0">
              <a:schemeClr val="bg2">
                <a:lumMod val="50000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C:/Users/25616/Desktop/微信图片_20250723234653.jpg微信图片_20250723234653"/>
          <p:cNvPicPr>
            <a:picLocks noChangeAspect="1"/>
          </p:cNvPicPr>
          <p:nvPr/>
        </p:nvPicPr>
        <p:blipFill>
          <a:blip r:embed="rId1">
            <a:alphaModFix amt="70000"/>
          </a:blip>
          <a:srcRect t="17240" b="17240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806239"/>
            <a:ext cx="6424116" cy="99250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为什么挠痒让人舒服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为什么挠痒会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传染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2695" y="2303304"/>
            <a:ext cx="5798456" cy="5762171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40610" y="190546"/>
            <a:ext cx="3723003" cy="633732"/>
            <a:chOff x="513139" y="331796"/>
            <a:chExt cx="3723003" cy="63373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30572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请输入你的标题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49777" y="5747323"/>
            <a:ext cx="4328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2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在这里可以对图片进行简单介绍</a:t>
            </a:r>
            <a:endParaRPr kumimoji="0" lang="zh-CN" altLang="en-US" sz="1800" b="1" i="0" u="none" strike="noStrike" kern="1200" cap="none" spc="2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椭圆 3"/>
          <p:cNvSpPr/>
          <p:nvPr>
            <p:custDataLst>
              <p:tags r:id="rId5"/>
            </p:custDataLst>
          </p:nvPr>
        </p:nvSpPr>
        <p:spPr>
          <a:xfrm>
            <a:off x="5636341" y="3739223"/>
            <a:ext cx="363794" cy="363794"/>
          </a:xfrm>
          <a:prstGeom prst="ellipse">
            <a:avLst/>
          </a:prstGeom>
          <a:solidFill>
            <a:schemeClr val="accent1">
              <a:alpha val="2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Regular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5636341" y="1428404"/>
            <a:ext cx="363794" cy="363794"/>
          </a:xfrm>
          <a:prstGeom prst="ellipse">
            <a:avLst/>
          </a:prstGeom>
          <a:solidFill>
            <a:schemeClr val="accent1">
              <a:alpha val="23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" name="直接连接符 5"/>
          <p:cNvCxnSpPr/>
          <p:nvPr>
            <p:custDataLst>
              <p:tags r:id="rId7"/>
            </p:custDataLst>
          </p:nvPr>
        </p:nvCxnSpPr>
        <p:spPr>
          <a:xfrm>
            <a:off x="6099533" y="2050339"/>
            <a:ext cx="510176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5755640" y="1449070"/>
            <a:ext cx="34417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为什么挠痒让人舒服？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8" name="直接连接符 7"/>
          <p:cNvCxnSpPr/>
          <p:nvPr>
            <p:custDataLst>
              <p:tags r:id="rId9"/>
            </p:custDataLst>
          </p:nvPr>
        </p:nvCxnSpPr>
        <p:spPr>
          <a:xfrm>
            <a:off x="5791200" y="2051107"/>
            <a:ext cx="417870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>
            <a:off x="5680434" y="2232685"/>
            <a:ext cx="5661790" cy="1252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抓挠产生机械刺激和轻微痛觉，触觉、痛觉信号会与痒觉信号相互作用，脊髓层面存在感觉调控机制，痒觉信号被暂时抑制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1"/>
            </p:custDataLst>
          </p:nvPr>
        </p:nvCxnSpPr>
        <p:spPr>
          <a:xfrm>
            <a:off x="6099533" y="4356497"/>
            <a:ext cx="5101763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5755640" y="3755390"/>
            <a:ext cx="3378835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2400" b="1" spc="20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sym typeface="+mn-ea"/>
              </a:rPr>
              <a:t>为什么挠痒会“传染”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4" name="直接连接符 33"/>
          <p:cNvCxnSpPr/>
          <p:nvPr>
            <p:custDataLst>
              <p:tags r:id="rId13"/>
            </p:custDataLst>
          </p:nvPr>
        </p:nvCxnSpPr>
        <p:spPr>
          <a:xfrm>
            <a:off x="5791200" y="4357265"/>
            <a:ext cx="417870" cy="0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sp>
        <p:nvSpPr>
          <p:cNvPr id="35" name="矩形 34"/>
          <p:cNvSpPr/>
          <p:nvPr>
            <p:custDataLst>
              <p:tags r:id="rId14"/>
            </p:custDataLst>
          </p:nvPr>
        </p:nvSpPr>
        <p:spPr>
          <a:xfrm>
            <a:off x="5680433" y="4538843"/>
            <a:ext cx="5661787" cy="1640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痒不只是皮肤传来的信号，也会受大脑认知和注意力的影响。当我们看到别人抓挠时，大脑会自动模拟这种感觉，让我们把注意力集中到自己的皮肤上。平时不会注意到的皮肤感觉，就可能被放大成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痒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6" name="图片占位符 4" descr="C:/Users/25616/Desktop/图片3.png图片3"/>
          <p:cNvPicPr/>
          <p:nvPr/>
        </p:nvPicPr>
        <p:blipFill>
          <a:blip r:embed="rId15"/>
          <a:srcRect t="15467" b="15467"/>
          <a:stretch>
            <a:fillRect/>
          </a:stretch>
        </p:blipFill>
        <p:spPr>
          <a:xfrm>
            <a:off x="849774" y="976678"/>
            <a:ext cx="4328528" cy="5180001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849780" y="5707296"/>
            <a:ext cx="4328525" cy="450065"/>
          </a:xfrm>
          <a:prstGeom prst="rect">
            <a:avLst/>
          </a:prstGeom>
          <a:solidFill>
            <a:schemeClr val="accent1">
              <a:alpha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25616/Desktop/640 (1).jpg640 (1)"/>
          <p:cNvPicPr>
            <a:picLocks noChangeAspect="1"/>
          </p:cNvPicPr>
          <p:nvPr/>
        </p:nvPicPr>
        <p:blipFill>
          <a:blip r:embed="rId1">
            <a:alphaModFix amt="70000"/>
          </a:blip>
          <a:srcRect t="24786" b="24786"/>
          <a:stretch>
            <a:fillRect/>
          </a:stretch>
        </p:blipFill>
        <p:spPr>
          <a:xfrm>
            <a:off x="0" y="0"/>
            <a:ext cx="12191999" cy="391114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r>
              <a:rPr lang="en-US" altLang="zh-CN" sz="720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3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806239"/>
            <a:ext cx="6424116" cy="99250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sym typeface="+mn-ea"/>
              </a:rPr>
              <a:t>为什么越挠越痒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sym typeface="+mn-ea"/>
              </a:rPr>
              <a:t>为什么挠痒停不下来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22695" y="2303304"/>
            <a:ext cx="5798456" cy="5762171"/>
          </a:xfrm>
          <a:prstGeom prst="rect">
            <a:avLst/>
          </a:prstGeom>
        </p:spPr>
      </p:pic>
      <p:sp>
        <p:nvSpPr>
          <p:cNvPr id="46" name="矩形 3"/>
          <p:cNvSpPr/>
          <p:nvPr>
            <p:custDataLst>
              <p:tags r:id="rId3"/>
            </p:custDataLst>
          </p:nvPr>
        </p:nvSpPr>
        <p:spPr>
          <a:xfrm>
            <a:off x="50800" y="3051248"/>
            <a:ext cx="13536445" cy="1253339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矩形 3"/>
          <p:cNvSpPr/>
          <p:nvPr>
            <p:custDataLst>
              <p:tags r:id="rId4"/>
            </p:custDataLst>
          </p:nvPr>
        </p:nvSpPr>
        <p:spPr>
          <a:xfrm>
            <a:off x="-1378857" y="4662058"/>
            <a:ext cx="13536445" cy="1253339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solidFill>
            <a:srgbClr val="E1D7DF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TextBox 74"/>
          <p:cNvSpPr txBox="1"/>
          <p:nvPr>
            <p:custDataLst>
              <p:tags r:id="rId5"/>
            </p:custDataLst>
          </p:nvPr>
        </p:nvSpPr>
        <p:spPr>
          <a:xfrm>
            <a:off x="5483860" y="4669790"/>
            <a:ext cx="5563235" cy="1282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抓挠之后，痒感会短暂缓解。对大脑来说，这种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从不舒服到舒服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的变化是一种奖励。主动抓挠时，人会更明显地感到愉悦和控制感。大脑会记住这种短暂的舒服感，下一次再出现痒感时，就会更容易驱动我们重复抓挠，即大脑认为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抓挠是有效的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”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。即使我们理性上知道抓挠可能让皮肤更糟，但大脑更容易被眼前的即时缓解吸引。</a:t>
            </a:r>
            <a:endParaRPr kumimoji="0" lang="zh-CN" altLang="en-US" sz="1335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9" name="组合 38"/>
          <p:cNvGrpSpPr/>
          <p:nvPr>
            <p:custDataLst>
              <p:tags r:id="rId6"/>
            </p:custDataLst>
          </p:nvPr>
        </p:nvGrpSpPr>
        <p:grpSpPr>
          <a:xfrm>
            <a:off x="2083449" y="4952689"/>
            <a:ext cx="3307715" cy="672075"/>
            <a:chOff x="440610" y="1732216"/>
            <a:chExt cx="3307715" cy="672075"/>
          </a:xfrm>
        </p:grpSpPr>
        <p:sp>
          <p:nvSpPr>
            <p:cNvPr id="40" name="矩形 3"/>
            <p:cNvSpPr/>
            <p:nvPr>
              <p:custDataLst>
                <p:tags r:id="rId7"/>
              </p:custDataLst>
            </p:nvPr>
          </p:nvSpPr>
          <p:spPr>
            <a:xfrm>
              <a:off x="750946" y="1760481"/>
              <a:ext cx="2944296" cy="584775"/>
            </a:xfrm>
            <a:custGeom>
              <a:avLst/>
              <a:gdLst/>
              <a:ahLst/>
              <a:cxnLst/>
              <a:rect l="l" t="t" r="r" b="b"/>
              <a:pathLst>
                <a:path w="5192450" h="1305562">
                  <a:moveTo>
                    <a:pt x="648072" y="0"/>
                  </a:moveTo>
                  <a:lnTo>
                    <a:pt x="4680520" y="0"/>
                  </a:lnTo>
                  <a:lnTo>
                    <a:pt x="4680520" y="534"/>
                  </a:lnTo>
                  <a:lnTo>
                    <a:pt x="4756983" y="534"/>
                  </a:lnTo>
                  <a:cubicBezTo>
                    <a:pt x="4781822" y="0"/>
                    <a:pt x="4807189" y="5871"/>
                    <a:pt x="4830442" y="19749"/>
                  </a:cubicBezTo>
                  <a:cubicBezTo>
                    <a:pt x="4852109" y="32025"/>
                    <a:pt x="4869549" y="49639"/>
                    <a:pt x="4881176" y="70456"/>
                  </a:cubicBezTo>
                  <a:lnTo>
                    <a:pt x="5172368" y="579657"/>
                  </a:lnTo>
                  <a:cubicBezTo>
                    <a:pt x="5185051" y="601007"/>
                    <a:pt x="5192450" y="626093"/>
                    <a:pt x="5192450" y="652781"/>
                  </a:cubicBezTo>
                  <a:cubicBezTo>
                    <a:pt x="5192450" y="680003"/>
                    <a:pt x="5185051" y="705089"/>
                    <a:pt x="5171839" y="726439"/>
                  </a:cubicBezTo>
                  <a:lnTo>
                    <a:pt x="4881176" y="1235640"/>
                  </a:lnTo>
                  <a:cubicBezTo>
                    <a:pt x="4869021" y="1255923"/>
                    <a:pt x="4852109" y="1273537"/>
                    <a:pt x="4830442" y="1286347"/>
                  </a:cubicBezTo>
                  <a:cubicBezTo>
                    <a:pt x="4807717" y="1299691"/>
                    <a:pt x="4782879" y="1305562"/>
                    <a:pt x="4758040" y="1305028"/>
                  </a:cubicBezTo>
                  <a:lnTo>
                    <a:pt x="4680520" y="1305028"/>
                  </a:lnTo>
                  <a:lnTo>
                    <a:pt x="4680520" y="1305562"/>
                  </a:lnTo>
                  <a:lnTo>
                    <a:pt x="648072" y="1305562"/>
                  </a:lnTo>
                  <a:lnTo>
                    <a:pt x="648072" y="1305028"/>
                  </a:lnTo>
                  <a:lnTo>
                    <a:pt x="431239" y="1305028"/>
                  </a:lnTo>
                  <a:cubicBezTo>
                    <a:pt x="407986" y="1305028"/>
                    <a:pt x="383676" y="1299157"/>
                    <a:pt x="362008" y="1286347"/>
                  </a:cubicBezTo>
                  <a:cubicBezTo>
                    <a:pt x="340341" y="1273537"/>
                    <a:pt x="322901" y="1255923"/>
                    <a:pt x="311274" y="1235107"/>
                  </a:cubicBezTo>
                  <a:lnTo>
                    <a:pt x="19025" y="723770"/>
                  </a:lnTo>
                  <a:cubicBezTo>
                    <a:pt x="6870" y="702954"/>
                    <a:pt x="0" y="678935"/>
                    <a:pt x="0" y="652781"/>
                  </a:cubicBezTo>
                  <a:cubicBezTo>
                    <a:pt x="0" y="626627"/>
                    <a:pt x="6870" y="602608"/>
                    <a:pt x="19025" y="581258"/>
                  </a:cubicBezTo>
                  <a:lnTo>
                    <a:pt x="310217" y="72057"/>
                  </a:lnTo>
                  <a:cubicBezTo>
                    <a:pt x="322372" y="51240"/>
                    <a:pt x="339812" y="32559"/>
                    <a:pt x="362008" y="19749"/>
                  </a:cubicBezTo>
                  <a:cubicBezTo>
                    <a:pt x="382619" y="7473"/>
                    <a:pt x="405344" y="1068"/>
                    <a:pt x="428068" y="534"/>
                  </a:cubicBezTo>
                  <a:lnTo>
                    <a:pt x="648072" y="53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41" name="组合 40"/>
            <p:cNvGrpSpPr/>
            <p:nvPr>
              <p:custDataLst>
                <p:tags r:id="rId8"/>
              </p:custDataLst>
            </p:nvPr>
          </p:nvGrpSpPr>
          <p:grpSpPr>
            <a:xfrm>
              <a:off x="440610" y="1732216"/>
              <a:ext cx="672074" cy="672075"/>
              <a:chOff x="2769119" y="1848492"/>
              <a:chExt cx="504056" cy="504056"/>
            </a:xfrm>
          </p:grpSpPr>
          <p:sp>
            <p:nvSpPr>
              <p:cNvPr id="43" name="椭圆 42"/>
              <p:cNvSpPr/>
              <p:nvPr>
                <p:custDataLst>
                  <p:tags r:id="rId9"/>
                </p:custDataLst>
              </p:nvPr>
            </p:nvSpPr>
            <p:spPr>
              <a:xfrm>
                <a:off x="2769119" y="1848492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44" name="TextBox 66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808589" y="1931243"/>
                <a:ext cx="390973" cy="315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135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03</a:t>
                </a:r>
                <a:endParaRPr kumimoji="0" lang="zh-CN" altLang="en-US" sz="2135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2" name="TextBox 82"/>
            <p:cNvSpPr txBox="1"/>
            <p:nvPr>
              <p:custDataLst>
                <p:tags r:id="rId11"/>
              </p:custDataLst>
            </p:nvPr>
          </p:nvSpPr>
          <p:spPr>
            <a:xfrm>
              <a:off x="906065" y="1911921"/>
              <a:ext cx="2842260" cy="3073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20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为什么挠痒停不下来</a:t>
              </a:r>
              <a:endPara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40610" y="190546"/>
            <a:ext cx="3723003" cy="633732"/>
            <a:chOff x="513139" y="331796"/>
            <a:chExt cx="3723003" cy="63373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30572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请输入你的标题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sp>
        <p:nvSpPr>
          <p:cNvPr id="5" name="矩形 3"/>
          <p:cNvSpPr/>
          <p:nvPr>
            <p:custDataLst>
              <p:tags r:id="rId15"/>
            </p:custDataLst>
          </p:nvPr>
        </p:nvSpPr>
        <p:spPr>
          <a:xfrm>
            <a:off x="-1378857" y="1382302"/>
            <a:ext cx="13536445" cy="1253339"/>
          </a:xfrm>
          <a:custGeom>
            <a:avLst/>
            <a:gdLst/>
            <a:ahLst/>
            <a:cxnLst/>
            <a:rect l="l" t="t" r="r" b="b"/>
            <a:pathLst>
              <a:path w="5192450" h="1305562">
                <a:moveTo>
                  <a:pt x="648072" y="0"/>
                </a:moveTo>
                <a:lnTo>
                  <a:pt x="4680520" y="0"/>
                </a:lnTo>
                <a:lnTo>
                  <a:pt x="4680520" y="534"/>
                </a:lnTo>
                <a:lnTo>
                  <a:pt x="4756983" y="534"/>
                </a:lnTo>
                <a:cubicBezTo>
                  <a:pt x="4781822" y="0"/>
                  <a:pt x="4807189" y="5871"/>
                  <a:pt x="4830442" y="19749"/>
                </a:cubicBezTo>
                <a:cubicBezTo>
                  <a:pt x="4852109" y="32025"/>
                  <a:pt x="4869549" y="49639"/>
                  <a:pt x="4881176" y="70456"/>
                </a:cubicBezTo>
                <a:lnTo>
                  <a:pt x="5172368" y="579657"/>
                </a:lnTo>
                <a:cubicBezTo>
                  <a:pt x="5185051" y="601007"/>
                  <a:pt x="5192450" y="626093"/>
                  <a:pt x="5192450" y="652781"/>
                </a:cubicBezTo>
                <a:cubicBezTo>
                  <a:pt x="5192450" y="680003"/>
                  <a:pt x="5185051" y="705089"/>
                  <a:pt x="5171839" y="726439"/>
                </a:cubicBezTo>
                <a:lnTo>
                  <a:pt x="4881176" y="1235640"/>
                </a:lnTo>
                <a:cubicBezTo>
                  <a:pt x="4869021" y="1255923"/>
                  <a:pt x="4852109" y="1273537"/>
                  <a:pt x="4830442" y="1286347"/>
                </a:cubicBezTo>
                <a:cubicBezTo>
                  <a:pt x="4807717" y="1299691"/>
                  <a:pt x="4782879" y="1305562"/>
                  <a:pt x="4758040" y="1305028"/>
                </a:cubicBezTo>
                <a:lnTo>
                  <a:pt x="4680520" y="1305028"/>
                </a:lnTo>
                <a:lnTo>
                  <a:pt x="4680520" y="1305562"/>
                </a:lnTo>
                <a:lnTo>
                  <a:pt x="648072" y="1305562"/>
                </a:lnTo>
                <a:lnTo>
                  <a:pt x="648072" y="1305028"/>
                </a:lnTo>
                <a:lnTo>
                  <a:pt x="431239" y="1305028"/>
                </a:lnTo>
                <a:cubicBezTo>
                  <a:pt x="407986" y="1305028"/>
                  <a:pt x="383676" y="1299157"/>
                  <a:pt x="362008" y="1286347"/>
                </a:cubicBezTo>
                <a:cubicBezTo>
                  <a:pt x="340341" y="1273537"/>
                  <a:pt x="322901" y="1255923"/>
                  <a:pt x="311274" y="1235107"/>
                </a:cubicBezTo>
                <a:lnTo>
                  <a:pt x="19025" y="723770"/>
                </a:lnTo>
                <a:cubicBezTo>
                  <a:pt x="6870" y="702954"/>
                  <a:pt x="0" y="678935"/>
                  <a:pt x="0" y="652781"/>
                </a:cubicBezTo>
                <a:cubicBezTo>
                  <a:pt x="0" y="626627"/>
                  <a:pt x="6870" y="602608"/>
                  <a:pt x="19025" y="581258"/>
                </a:cubicBezTo>
                <a:lnTo>
                  <a:pt x="310217" y="72057"/>
                </a:lnTo>
                <a:cubicBezTo>
                  <a:pt x="322372" y="51240"/>
                  <a:pt x="339812" y="32559"/>
                  <a:pt x="362008" y="19749"/>
                </a:cubicBezTo>
                <a:cubicBezTo>
                  <a:pt x="382619" y="7473"/>
                  <a:pt x="405344" y="1068"/>
                  <a:pt x="428068" y="534"/>
                </a:cubicBezTo>
                <a:lnTo>
                  <a:pt x="648072" y="534"/>
                </a:lnTo>
                <a:close/>
              </a:path>
            </a:pathLst>
          </a:custGeom>
          <a:solidFill>
            <a:srgbClr val="E1D7DF"/>
          </a:solidFill>
          <a:ln w="952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TextBox 74"/>
          <p:cNvSpPr txBox="1"/>
          <p:nvPr>
            <p:custDataLst>
              <p:tags r:id="rId16"/>
            </p:custDataLst>
          </p:nvPr>
        </p:nvSpPr>
        <p:spPr>
          <a:xfrm>
            <a:off x="5606531" y="1527668"/>
            <a:ext cx="5489640" cy="10255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皮肤可以防止外界刺激物进入，如果反复用指甲抓挠，皮肤会受到破坏，局部免疫反应就会进一步增强，释放更多炎症介质。炎症介质让感觉神经变得更敏感。原本不太明显的刺激，现在也可能被大脑感知为明显的痒。神经敏感性增加，抓挠后痒感会不断扩大、加重。</a:t>
            </a:r>
            <a:endParaRPr kumimoji="0" lang="zh-CN" altLang="en-US" sz="1335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6" name="组合 5"/>
          <p:cNvGrpSpPr/>
          <p:nvPr>
            <p:custDataLst>
              <p:tags r:id="rId17"/>
            </p:custDataLst>
          </p:nvPr>
        </p:nvGrpSpPr>
        <p:grpSpPr>
          <a:xfrm>
            <a:off x="2083449" y="1672933"/>
            <a:ext cx="3254632" cy="672075"/>
            <a:chOff x="440610" y="1732216"/>
            <a:chExt cx="3254632" cy="672075"/>
          </a:xfrm>
        </p:grpSpPr>
        <p:sp>
          <p:nvSpPr>
            <p:cNvPr id="16" name="矩形 3"/>
            <p:cNvSpPr/>
            <p:nvPr>
              <p:custDataLst>
                <p:tags r:id="rId18"/>
              </p:custDataLst>
            </p:nvPr>
          </p:nvSpPr>
          <p:spPr>
            <a:xfrm>
              <a:off x="750946" y="1760481"/>
              <a:ext cx="2944296" cy="584775"/>
            </a:xfrm>
            <a:custGeom>
              <a:avLst/>
              <a:gdLst/>
              <a:ahLst/>
              <a:cxnLst/>
              <a:rect l="l" t="t" r="r" b="b"/>
              <a:pathLst>
                <a:path w="5192450" h="1305562">
                  <a:moveTo>
                    <a:pt x="648072" y="0"/>
                  </a:moveTo>
                  <a:lnTo>
                    <a:pt x="4680520" y="0"/>
                  </a:lnTo>
                  <a:lnTo>
                    <a:pt x="4680520" y="534"/>
                  </a:lnTo>
                  <a:lnTo>
                    <a:pt x="4756983" y="534"/>
                  </a:lnTo>
                  <a:cubicBezTo>
                    <a:pt x="4781822" y="0"/>
                    <a:pt x="4807189" y="5871"/>
                    <a:pt x="4830442" y="19749"/>
                  </a:cubicBezTo>
                  <a:cubicBezTo>
                    <a:pt x="4852109" y="32025"/>
                    <a:pt x="4869549" y="49639"/>
                    <a:pt x="4881176" y="70456"/>
                  </a:cubicBezTo>
                  <a:lnTo>
                    <a:pt x="5172368" y="579657"/>
                  </a:lnTo>
                  <a:cubicBezTo>
                    <a:pt x="5185051" y="601007"/>
                    <a:pt x="5192450" y="626093"/>
                    <a:pt x="5192450" y="652781"/>
                  </a:cubicBezTo>
                  <a:cubicBezTo>
                    <a:pt x="5192450" y="680003"/>
                    <a:pt x="5185051" y="705089"/>
                    <a:pt x="5171839" y="726439"/>
                  </a:cubicBezTo>
                  <a:lnTo>
                    <a:pt x="4881176" y="1235640"/>
                  </a:lnTo>
                  <a:cubicBezTo>
                    <a:pt x="4869021" y="1255923"/>
                    <a:pt x="4852109" y="1273537"/>
                    <a:pt x="4830442" y="1286347"/>
                  </a:cubicBezTo>
                  <a:cubicBezTo>
                    <a:pt x="4807717" y="1299691"/>
                    <a:pt x="4782879" y="1305562"/>
                    <a:pt x="4758040" y="1305028"/>
                  </a:cubicBezTo>
                  <a:lnTo>
                    <a:pt x="4680520" y="1305028"/>
                  </a:lnTo>
                  <a:lnTo>
                    <a:pt x="4680520" y="1305562"/>
                  </a:lnTo>
                  <a:lnTo>
                    <a:pt x="648072" y="1305562"/>
                  </a:lnTo>
                  <a:lnTo>
                    <a:pt x="648072" y="1305028"/>
                  </a:lnTo>
                  <a:lnTo>
                    <a:pt x="431239" y="1305028"/>
                  </a:lnTo>
                  <a:cubicBezTo>
                    <a:pt x="407986" y="1305028"/>
                    <a:pt x="383676" y="1299157"/>
                    <a:pt x="362008" y="1286347"/>
                  </a:cubicBezTo>
                  <a:cubicBezTo>
                    <a:pt x="340341" y="1273537"/>
                    <a:pt x="322901" y="1255923"/>
                    <a:pt x="311274" y="1235107"/>
                  </a:cubicBezTo>
                  <a:lnTo>
                    <a:pt x="19025" y="723770"/>
                  </a:lnTo>
                  <a:cubicBezTo>
                    <a:pt x="6870" y="702954"/>
                    <a:pt x="0" y="678935"/>
                    <a:pt x="0" y="652781"/>
                  </a:cubicBezTo>
                  <a:cubicBezTo>
                    <a:pt x="0" y="626627"/>
                    <a:pt x="6870" y="602608"/>
                    <a:pt x="19025" y="581258"/>
                  </a:cubicBezTo>
                  <a:lnTo>
                    <a:pt x="310217" y="72057"/>
                  </a:lnTo>
                  <a:cubicBezTo>
                    <a:pt x="322372" y="51240"/>
                    <a:pt x="339812" y="32559"/>
                    <a:pt x="362008" y="19749"/>
                  </a:cubicBezTo>
                  <a:cubicBezTo>
                    <a:pt x="382619" y="7473"/>
                    <a:pt x="405344" y="1068"/>
                    <a:pt x="428068" y="534"/>
                  </a:cubicBezTo>
                  <a:lnTo>
                    <a:pt x="648072" y="53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17" name="组合 16"/>
            <p:cNvGrpSpPr/>
            <p:nvPr>
              <p:custDataLst>
                <p:tags r:id="rId19"/>
              </p:custDataLst>
            </p:nvPr>
          </p:nvGrpSpPr>
          <p:grpSpPr>
            <a:xfrm>
              <a:off x="440610" y="1732216"/>
              <a:ext cx="672074" cy="672075"/>
              <a:chOff x="2769119" y="1848492"/>
              <a:chExt cx="504056" cy="504056"/>
            </a:xfrm>
          </p:grpSpPr>
          <p:sp>
            <p:nvSpPr>
              <p:cNvPr id="18" name="椭圆 17"/>
              <p:cNvSpPr/>
              <p:nvPr>
                <p:custDataLst>
                  <p:tags r:id="rId20"/>
                </p:custDataLst>
              </p:nvPr>
            </p:nvSpPr>
            <p:spPr>
              <a:xfrm>
                <a:off x="2769119" y="1848492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19" name="TextBox 66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2808589" y="1931243"/>
                <a:ext cx="390973" cy="315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135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01</a:t>
                </a:r>
                <a:endParaRPr kumimoji="0" lang="zh-CN" altLang="en-US" sz="2135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30" name="TextBox 82"/>
            <p:cNvSpPr txBox="1"/>
            <p:nvPr>
              <p:custDataLst>
                <p:tags r:id="rId22"/>
              </p:custDataLst>
            </p:nvPr>
          </p:nvSpPr>
          <p:spPr>
            <a:xfrm>
              <a:off x="1133871" y="1858566"/>
              <a:ext cx="2298067" cy="3689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20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为什么越挠越痒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11" name="图片 10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" t="11639" r="-256" b="35193"/>
          <a:stretch>
            <a:fillRect/>
          </a:stretch>
        </p:blipFill>
        <p:spPr>
          <a:xfrm>
            <a:off x="10501498" y="2684929"/>
            <a:ext cx="2037600" cy="1927840"/>
          </a:xfrm>
          <a:prstGeom prst="ellipse">
            <a:avLst/>
          </a:prstGeom>
        </p:spPr>
      </p:pic>
      <p:pic>
        <p:nvPicPr>
          <p:cNvPr id="34" name="图片 33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94" b="29362"/>
          <a:stretch>
            <a:fillRect/>
          </a:stretch>
        </p:blipFill>
        <p:spPr>
          <a:xfrm>
            <a:off x="-270640" y="1075865"/>
            <a:ext cx="2037329" cy="1930137"/>
          </a:xfrm>
          <a:prstGeom prst="ellipse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8" t="23350" r="158" b="13809"/>
          <a:stretch>
            <a:fillRect/>
          </a:stretch>
        </p:blipFill>
        <p:spPr>
          <a:xfrm>
            <a:off x="-275705" y="4349833"/>
            <a:ext cx="2037600" cy="1920667"/>
          </a:xfrm>
          <a:prstGeom prst="ellipse">
            <a:avLst/>
          </a:prstGeom>
        </p:spPr>
      </p:pic>
      <p:grpSp>
        <p:nvGrpSpPr>
          <p:cNvPr id="48" name="组合 47"/>
          <p:cNvGrpSpPr/>
          <p:nvPr>
            <p:custDataLst>
              <p:tags r:id="rId29"/>
            </p:custDataLst>
          </p:nvPr>
        </p:nvGrpSpPr>
        <p:grpSpPr>
          <a:xfrm flipH="1">
            <a:off x="6967817" y="3341879"/>
            <a:ext cx="3254632" cy="672075"/>
            <a:chOff x="440610" y="1732216"/>
            <a:chExt cx="3254632" cy="672075"/>
          </a:xfrm>
        </p:grpSpPr>
        <p:sp>
          <p:nvSpPr>
            <p:cNvPr id="49" name="矩形 3"/>
            <p:cNvSpPr/>
            <p:nvPr>
              <p:custDataLst>
                <p:tags r:id="rId30"/>
              </p:custDataLst>
            </p:nvPr>
          </p:nvSpPr>
          <p:spPr>
            <a:xfrm>
              <a:off x="750946" y="1760481"/>
              <a:ext cx="2944296" cy="584775"/>
            </a:xfrm>
            <a:custGeom>
              <a:avLst/>
              <a:gdLst/>
              <a:ahLst/>
              <a:cxnLst/>
              <a:rect l="l" t="t" r="r" b="b"/>
              <a:pathLst>
                <a:path w="5192450" h="1305562">
                  <a:moveTo>
                    <a:pt x="648072" y="0"/>
                  </a:moveTo>
                  <a:lnTo>
                    <a:pt x="4680520" y="0"/>
                  </a:lnTo>
                  <a:lnTo>
                    <a:pt x="4680520" y="534"/>
                  </a:lnTo>
                  <a:lnTo>
                    <a:pt x="4756983" y="534"/>
                  </a:lnTo>
                  <a:cubicBezTo>
                    <a:pt x="4781822" y="0"/>
                    <a:pt x="4807189" y="5871"/>
                    <a:pt x="4830442" y="19749"/>
                  </a:cubicBezTo>
                  <a:cubicBezTo>
                    <a:pt x="4852109" y="32025"/>
                    <a:pt x="4869549" y="49639"/>
                    <a:pt x="4881176" y="70456"/>
                  </a:cubicBezTo>
                  <a:lnTo>
                    <a:pt x="5172368" y="579657"/>
                  </a:lnTo>
                  <a:cubicBezTo>
                    <a:pt x="5185051" y="601007"/>
                    <a:pt x="5192450" y="626093"/>
                    <a:pt x="5192450" y="652781"/>
                  </a:cubicBezTo>
                  <a:cubicBezTo>
                    <a:pt x="5192450" y="680003"/>
                    <a:pt x="5185051" y="705089"/>
                    <a:pt x="5171839" y="726439"/>
                  </a:cubicBezTo>
                  <a:lnTo>
                    <a:pt x="4881176" y="1235640"/>
                  </a:lnTo>
                  <a:cubicBezTo>
                    <a:pt x="4869021" y="1255923"/>
                    <a:pt x="4852109" y="1273537"/>
                    <a:pt x="4830442" y="1286347"/>
                  </a:cubicBezTo>
                  <a:cubicBezTo>
                    <a:pt x="4807717" y="1299691"/>
                    <a:pt x="4782879" y="1305562"/>
                    <a:pt x="4758040" y="1305028"/>
                  </a:cubicBezTo>
                  <a:lnTo>
                    <a:pt x="4680520" y="1305028"/>
                  </a:lnTo>
                  <a:lnTo>
                    <a:pt x="4680520" y="1305562"/>
                  </a:lnTo>
                  <a:lnTo>
                    <a:pt x="648072" y="1305562"/>
                  </a:lnTo>
                  <a:lnTo>
                    <a:pt x="648072" y="1305028"/>
                  </a:lnTo>
                  <a:lnTo>
                    <a:pt x="431239" y="1305028"/>
                  </a:lnTo>
                  <a:cubicBezTo>
                    <a:pt x="407986" y="1305028"/>
                    <a:pt x="383676" y="1299157"/>
                    <a:pt x="362008" y="1286347"/>
                  </a:cubicBezTo>
                  <a:cubicBezTo>
                    <a:pt x="340341" y="1273537"/>
                    <a:pt x="322901" y="1255923"/>
                    <a:pt x="311274" y="1235107"/>
                  </a:cubicBezTo>
                  <a:lnTo>
                    <a:pt x="19025" y="723770"/>
                  </a:lnTo>
                  <a:cubicBezTo>
                    <a:pt x="6870" y="702954"/>
                    <a:pt x="0" y="678935"/>
                    <a:pt x="0" y="652781"/>
                  </a:cubicBezTo>
                  <a:cubicBezTo>
                    <a:pt x="0" y="626627"/>
                    <a:pt x="6870" y="602608"/>
                    <a:pt x="19025" y="581258"/>
                  </a:cubicBezTo>
                  <a:lnTo>
                    <a:pt x="310217" y="72057"/>
                  </a:lnTo>
                  <a:cubicBezTo>
                    <a:pt x="322372" y="51240"/>
                    <a:pt x="339812" y="32559"/>
                    <a:pt x="362008" y="19749"/>
                  </a:cubicBezTo>
                  <a:cubicBezTo>
                    <a:pt x="382619" y="7473"/>
                    <a:pt x="405344" y="1068"/>
                    <a:pt x="428068" y="534"/>
                  </a:cubicBezTo>
                  <a:lnTo>
                    <a:pt x="648072" y="534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3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grpSp>
          <p:nvGrpSpPr>
            <p:cNvPr id="50" name="组合 49"/>
            <p:cNvGrpSpPr/>
            <p:nvPr>
              <p:custDataLst>
                <p:tags r:id="rId31"/>
              </p:custDataLst>
            </p:nvPr>
          </p:nvGrpSpPr>
          <p:grpSpPr>
            <a:xfrm>
              <a:off x="440610" y="1732216"/>
              <a:ext cx="672074" cy="672075"/>
              <a:chOff x="2769119" y="1848492"/>
              <a:chExt cx="504056" cy="504056"/>
            </a:xfrm>
          </p:grpSpPr>
          <p:sp>
            <p:nvSpPr>
              <p:cNvPr id="52" name="椭圆 51"/>
              <p:cNvSpPr/>
              <p:nvPr>
                <p:custDataLst>
                  <p:tags r:id="rId32"/>
                </p:custDataLst>
              </p:nvPr>
            </p:nvSpPr>
            <p:spPr>
              <a:xfrm>
                <a:off x="2769119" y="1848492"/>
                <a:ext cx="504056" cy="504056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endParaRPr>
              </a:p>
            </p:txBody>
          </p:sp>
          <p:sp>
            <p:nvSpPr>
              <p:cNvPr id="53" name="TextBox 66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808589" y="1931243"/>
                <a:ext cx="390973" cy="315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135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02</a:t>
                </a:r>
                <a:endParaRPr kumimoji="0" lang="zh-CN" altLang="en-US" sz="2135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1" name="TextBox 82"/>
            <p:cNvSpPr txBox="1"/>
            <p:nvPr>
              <p:custDataLst>
                <p:tags r:id="rId34"/>
              </p:custDataLst>
            </p:nvPr>
          </p:nvSpPr>
          <p:spPr>
            <a:xfrm>
              <a:off x="894476" y="1858566"/>
              <a:ext cx="2298067" cy="36893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sz="2000" b="1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痒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-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挠循环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4" name="TextBox 74"/>
          <p:cNvSpPr txBox="1"/>
          <p:nvPr>
            <p:custDataLst>
              <p:tags r:id="rId35"/>
            </p:custDataLst>
          </p:nvPr>
        </p:nvSpPr>
        <p:spPr>
          <a:xfrm>
            <a:off x="1056640" y="3363595"/>
            <a:ext cx="5681345" cy="5124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皮肤受到刺激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释放组胺、细胞因子等介质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痒觉神经被激活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人产生抓挠冲动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抓挠短暂止痒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皮肤屏障受损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炎症和神经敏感性增强</a:t>
            </a:r>
            <a:r>
              <a:rPr kumimoji="0" lang="en-US" altLang="zh-CN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</a:t>
            </a:r>
            <a:r>
              <a:rPr kumimoji="0" lang="zh-CN" altLang="en-US" sz="133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痒感进一步加重</a:t>
            </a:r>
            <a:endParaRPr kumimoji="0" lang="zh-CN" altLang="en-US" sz="1335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C:/Users/25616/Desktop/微信图片_20250724002948.jpg微信图片_20250724002948"/>
          <p:cNvPicPr>
            <a:picLocks noChangeAspect="1"/>
          </p:cNvPicPr>
          <p:nvPr/>
        </p:nvPicPr>
        <p:blipFill>
          <a:blip r:embed="rId1">
            <a:alphaModFix amt="70000"/>
          </a:blip>
          <a:srcRect t="19484" b="13069"/>
          <a:stretch>
            <a:fillRect/>
          </a:stretch>
        </p:blipFill>
        <p:spPr>
          <a:xfrm>
            <a:off x="0" y="0"/>
            <a:ext cx="12192000" cy="396049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254000" y="4541204"/>
            <a:ext cx="11052629" cy="1315311"/>
            <a:chOff x="-254000" y="4541204"/>
            <a:chExt cx="11052629" cy="1315311"/>
          </a:xfrm>
          <a:effectLst>
            <a:outerShdw blurRad="127000" dist="50800" dir="5400000" algn="ctr" rotWithShape="0">
              <a:schemeClr val="tx1">
                <a:lumMod val="75000"/>
                <a:lumOff val="25000"/>
                <a:alpha val="60000"/>
              </a:schemeClr>
            </a:outerShdw>
          </a:effectLst>
        </p:grpSpPr>
        <p:sp>
          <p:nvSpPr>
            <p:cNvPr id="6" name="矩形 5"/>
            <p:cNvSpPr/>
            <p:nvPr/>
          </p:nvSpPr>
          <p:spPr>
            <a:xfrm>
              <a:off x="-254000" y="4541204"/>
              <a:ext cx="9739086" cy="13153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直角三角形 6"/>
            <p:cNvSpPr/>
            <p:nvPr/>
          </p:nvSpPr>
          <p:spPr>
            <a:xfrm flipV="1">
              <a:off x="9477829" y="4541205"/>
              <a:ext cx="1320800" cy="1315310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占位符 12"/>
          <p:cNvSpPr txBox="1"/>
          <p:nvPr/>
        </p:nvSpPr>
        <p:spPr>
          <a:xfrm>
            <a:off x="455892" y="4378533"/>
            <a:ext cx="2036279" cy="1848844"/>
          </a:xfrm>
          <a:prstGeom prst="rect">
            <a:avLst/>
          </a:prstGeom>
          <a:effectLst>
            <a:outerShdw dist="50800" dir="21540000" sx="1000" sy="1000" algn="ctr" rotWithShape="0">
              <a:schemeClr val="tx1">
                <a:lumMod val="85000"/>
                <a:lumOff val="15000"/>
                <a:alpha val="0"/>
              </a:schemeClr>
            </a:outerShdw>
          </a:effectLst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6600" b="1" kern="1200" spc="0" baseline="0" dirty="0">
                <a:ln w="19050">
                  <a:gradFill>
                    <a:gsLst>
                      <a:gs pos="23000">
                        <a:schemeClr val="bg1"/>
                      </a:gs>
                      <a:gs pos="56000">
                        <a:schemeClr val="bg1">
                          <a:alpha val="0"/>
                        </a:schemeClr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7200" b="1" i="0" u="none" strike="noStrike" kern="1200" cap="none" spc="0" normalizeH="0" baseline="0" noProof="0" dirty="0">
                <a:ln w="19050">
                  <a:gradFill>
                    <a:gsLst>
                      <a:gs pos="23000">
                        <a:prstClr val="white"/>
                      </a:gs>
                      <a:gs pos="56000">
                        <a:prstClr val="white">
                          <a:alpha val="0"/>
                        </a:prstClr>
                      </a:gs>
                      <a:gs pos="100000">
                        <a:prstClr val="white">
                          <a:alpha val="0"/>
                        </a:prstClr>
                      </a:gs>
                    </a:gsLst>
                    <a:lin ang="5400000" scaled="1"/>
                  </a:gradFill>
                </a:ln>
                <a:solidFill>
                  <a:schemeClr val="bg1"/>
                </a:solidFill>
                <a:effectLst>
                  <a:outerShdw blurRad="127000" dist="38100" dir="2700000" algn="tl" rotWithShape="0">
                    <a:prstClr val="black"/>
                  </a:outerShdw>
                </a:effectLst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kumimoji="0" lang="en-US" altLang="zh-CN" sz="7200" b="1" i="0" u="none" strike="noStrike" kern="1200" cap="none" spc="0" normalizeH="0" baseline="0" noProof="0" dirty="0">
              <a:ln w="19050">
                <a:gradFill>
                  <a:gsLst>
                    <a:gs pos="23000">
                      <a:prstClr val="white"/>
                    </a:gs>
                    <a:gs pos="56000">
                      <a:prstClr val="white">
                        <a:alpha val="0"/>
                      </a:prstClr>
                    </a:gs>
                    <a:gs pos="100000">
                      <a:prstClr val="white">
                        <a:alpha val="0"/>
                      </a:prstClr>
                    </a:gs>
                  </a:gsLst>
                  <a:lin ang="5400000" scaled="1"/>
                </a:gradFill>
              </a:ln>
              <a:solidFill>
                <a:schemeClr val="bg1"/>
              </a:solidFill>
              <a:effectLst>
                <a:outerShdw blurRad="127000" dist="38100" dir="2700000" algn="tl" rotWithShape="0">
                  <a:prstClr val="black"/>
                </a:outerShdw>
              </a:effectLst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占位符 3"/>
          <p:cNvSpPr txBox="1"/>
          <p:nvPr/>
        </p:nvSpPr>
        <p:spPr>
          <a:xfrm>
            <a:off x="2000118" y="4806239"/>
            <a:ext cx="6424116" cy="992505"/>
          </a:xfrm>
          <a:prstGeom prst="rect">
            <a:avLst/>
          </a:prstGeom>
          <a:noFill/>
        </p:spPr>
        <p:txBody>
          <a:bodyPr vert="horz" wrap="square" lIns="91413" tIns="45706" rIns="91413" bIns="45706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6000" b="1" kern="1200" dirty="0" smtClean="0">
                <a:solidFill>
                  <a:srgbClr val="0C98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sym typeface="+mn-ea"/>
              </a:rPr>
              <a:t>痒觉的意义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>
                      <a:lumMod val="75000"/>
                      <a:lumOff val="25000"/>
                    </a:schemeClr>
                  </a:outerShdw>
                </a:effectLst>
                <a:uLnTx/>
                <a:uFillTx/>
                <a:sym typeface="+mn-ea"/>
              </a:rPr>
              <a:t>如何科学止痒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50800" dist="50800" dir="5400000" algn="ctr" rotWithShape="0">
                  <a:schemeClr val="tx1">
                    <a:lumMod val="75000"/>
                    <a:lumOff val="25000"/>
                  </a:scheme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27177" y="6437546"/>
            <a:ext cx="2278505" cy="3271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/>
        </p:nvGrpSpPr>
        <p:grpSpPr>
          <a:xfrm>
            <a:off x="440610" y="190546"/>
            <a:ext cx="3723003" cy="633732"/>
            <a:chOff x="513139" y="331796"/>
            <a:chExt cx="3723003" cy="633732"/>
          </a:xfrm>
        </p:grpSpPr>
        <p:sp>
          <p:nvSpPr>
            <p:cNvPr id="28" name="文本框 27"/>
            <p:cNvSpPr txBox="1"/>
            <p:nvPr/>
          </p:nvSpPr>
          <p:spPr>
            <a:xfrm>
              <a:off x="1178895" y="380753"/>
              <a:ext cx="305724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请输入你的标题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13139" y="331796"/>
              <a:ext cx="604048" cy="604048"/>
              <a:chOff x="514213" y="245544"/>
              <a:chExt cx="604048" cy="604048"/>
            </a:xfrm>
          </p:grpSpPr>
          <p:sp>
            <p:nvSpPr>
              <p:cNvPr id="37" name="矩形 36"/>
              <p:cNvSpPr/>
              <p:nvPr/>
            </p:nvSpPr>
            <p:spPr>
              <a:xfrm>
                <a:off x="514213" y="245544"/>
                <a:ext cx="451648" cy="451648"/>
              </a:xfrm>
              <a:prstGeom prst="rect">
                <a:avLst/>
              </a:prstGeom>
              <a:solidFill>
                <a:schemeClr val="accent1">
                  <a:alpha val="50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38" name="矩形 37"/>
              <p:cNvSpPr/>
              <p:nvPr/>
            </p:nvSpPr>
            <p:spPr>
              <a:xfrm>
                <a:off x="666613" y="397944"/>
                <a:ext cx="451648" cy="451648"/>
              </a:xfrm>
              <a:prstGeom prst="rect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6" t="36068" r="13573" b="36906"/>
          <a:stretch>
            <a:fillRect/>
          </a:stretch>
        </p:blipFill>
        <p:spPr>
          <a:xfrm>
            <a:off x="9197245" y="207285"/>
            <a:ext cx="2608506" cy="89417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9802" y="6371355"/>
            <a:ext cx="2278505" cy="32714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1067934" y="3306100"/>
            <a:ext cx="4320966" cy="243113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6576664" y="3306100"/>
            <a:ext cx="4320966" cy="243113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占位符 5" descr="C:/Users/25616/Desktop/640.jpg640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t="7816" b="7816"/>
          <a:stretch>
            <a:fillRect/>
          </a:stretch>
        </p:blipFill>
        <p:spPr>
          <a:xfrm>
            <a:off x="719884" y="1164774"/>
            <a:ext cx="4320967" cy="2430543"/>
          </a:xfrm>
          <a:prstGeom prst="rect">
            <a:avLst/>
          </a:prstGeom>
          <a:effectLst>
            <a:outerShdw blurRad="127000" dist="50800" dir="5400000" algn="ctr" rotWithShape="0">
              <a:schemeClr val="bg2">
                <a:lumMod val="50000"/>
              </a:schemeClr>
            </a:outerShdw>
          </a:effectLst>
        </p:spPr>
      </p:pic>
      <p:pic>
        <p:nvPicPr>
          <p:cNvPr id="6" name="图片占位符 7" descr="C:/Users/25616/Desktop/图片4.png图片4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7" b="7"/>
          <a:stretch>
            <a:fillRect/>
          </a:stretch>
        </p:blipFill>
        <p:spPr>
          <a:xfrm>
            <a:off x="6475095" y="1165225"/>
            <a:ext cx="4319905" cy="2430145"/>
          </a:xfrm>
          <a:prstGeom prst="rect">
            <a:avLst/>
          </a:prstGeom>
          <a:effectLst>
            <a:outerShdw blurRad="127000" dist="50800" dir="5400000" algn="ctr" rotWithShape="0">
              <a:schemeClr val="bg2">
                <a:lumMod val="50000"/>
              </a:schemeClr>
            </a:outerShdw>
          </a:effectLst>
        </p:spPr>
      </p:pic>
      <p:sp>
        <p:nvSpPr>
          <p:cNvPr id="7" name="矩形 6"/>
          <p:cNvSpPr/>
          <p:nvPr>
            <p:custDataLst>
              <p:tags r:id="rId10"/>
            </p:custDataLst>
          </p:nvPr>
        </p:nvSpPr>
        <p:spPr>
          <a:xfrm>
            <a:off x="6507216" y="3381858"/>
            <a:ext cx="4320966" cy="2551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998486" y="3381858"/>
            <a:ext cx="4320966" cy="2551766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102000" sy="102000" algn="ctr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12"/>
            </p:custDataLst>
          </p:nvPr>
        </p:nvSpPr>
        <p:spPr>
          <a:xfrm>
            <a:off x="1294130" y="4329430"/>
            <a:ext cx="3652520" cy="1252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提醒身体注意皮肤表面的异常刺激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帮助清除昆虫、寄生虫或异物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促进机体对皮肤损伤作出反应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13"/>
            </p:custDataLst>
          </p:nvPr>
        </p:nvSpPr>
        <p:spPr>
          <a:xfrm>
            <a:off x="1294370" y="3703539"/>
            <a:ext cx="27237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痒觉的意义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4"/>
            </p:custDataLst>
          </p:nvPr>
        </p:nvSpPr>
        <p:spPr>
          <a:xfrm>
            <a:off x="6838950" y="4135755"/>
            <a:ext cx="3636645" cy="16414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冷敷：降低局部神经兴奋性，减轻红肿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轻拍或按压：提供替代刺激，减少抓破风险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保湿：修复皮肤屏障，减少干燥性瘙痒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避免热水烫洗：高温可能加重皮肤干燥和炎症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抗组胺药：适用于部分组胺相关瘙痒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长期或严重瘙痒应及时就医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6838643" y="3703539"/>
            <a:ext cx="272374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200" normalizeH="0" baseline="0" noProof="0" dirty="0">
                <a:ln>
                  <a:noFill/>
                </a:ln>
                <a:effectLst/>
                <a:uLnTx/>
                <a:uFillTx/>
                <a:latin typeface="方正大黑体_GBK" panose="02010600010101010101" charset="-122"/>
                <a:ea typeface="微软雅黑" panose="020B0503020204020204" pitchFamily="34" charset="-122"/>
                <a:cs typeface="+mn-cs"/>
              </a:rPr>
              <a:t>如何科学止痒</a:t>
            </a:r>
            <a:endParaRPr kumimoji="0" lang="zh-CN" altLang="en-US" sz="2400" b="1" i="0" u="none" strike="noStrike" kern="1200" cap="none" spc="200" normalizeH="0" baseline="0" noProof="0" dirty="0">
              <a:ln>
                <a:noFill/>
              </a:ln>
              <a:effectLst/>
              <a:uLnTx/>
              <a:uFillTx/>
              <a:latin typeface="方正大黑体_GBK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直角三角形 14"/>
          <p:cNvSpPr/>
          <p:nvPr>
            <p:custDataLst>
              <p:tags r:id="rId16"/>
            </p:custDataLst>
          </p:nvPr>
        </p:nvSpPr>
        <p:spPr>
          <a:xfrm rot="5400000">
            <a:off x="998486" y="3381858"/>
            <a:ext cx="175615" cy="175615"/>
          </a:xfrm>
          <a:prstGeom prst="rtTriangl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直角三角形 16"/>
          <p:cNvSpPr/>
          <p:nvPr>
            <p:custDataLst>
              <p:tags r:id="rId17"/>
            </p:custDataLst>
          </p:nvPr>
        </p:nvSpPr>
        <p:spPr>
          <a:xfrm rot="5400000">
            <a:off x="6507216" y="3381858"/>
            <a:ext cx="175615" cy="175615"/>
          </a:xfrm>
          <a:prstGeom prst="rtTriangle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xford Regular" panose="02010600010101010101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/Users/25616/Desktop/微信图片_20250723234624.jpg微信图片_20250723234624"/>
          <p:cNvPicPr>
            <a:picLocks noChangeAspect="1"/>
          </p:cNvPicPr>
          <p:nvPr/>
        </p:nvPicPr>
        <p:blipFill>
          <a:blip r:embed="rId1">
            <a:alphaModFix amt="70000"/>
            <a:lum bright="-6000"/>
          </a:blip>
          <a:srcRect t="21482" b="21482"/>
          <a:stretch>
            <a:fillRect/>
          </a:stretch>
        </p:blipFill>
        <p:spPr>
          <a:xfrm>
            <a:off x="0" y="-1"/>
            <a:ext cx="12191999" cy="3911142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546100" y="4316095"/>
            <a:ext cx="11399520" cy="2006428"/>
            <a:chOff x="636250" y="4201833"/>
            <a:chExt cx="11399243" cy="2302516"/>
          </a:xfrm>
        </p:grpSpPr>
        <p:sp>
          <p:nvSpPr>
            <p:cNvPr id="6" name="文本占位符 3"/>
            <p:cNvSpPr txBox="1"/>
            <p:nvPr/>
          </p:nvSpPr>
          <p:spPr>
            <a:xfrm>
              <a:off x="636250" y="4201833"/>
              <a:ext cx="11399243" cy="961164"/>
            </a:xfrm>
            <a:prstGeom prst="rect">
              <a:avLst/>
            </a:prstGeom>
            <a:noFill/>
          </p:spPr>
          <p:txBody>
            <a:bodyPr vert="horz" wrap="square" lIns="91413" tIns="45706" rIns="91413" bIns="45706" rtlCol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6000" b="1" kern="1200" dirty="0" smtClean="0">
                  <a:solidFill>
                    <a:srgbClr val="0C98F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lang="zh-CN" altLang="en-US" sz="5400" dirty="0">
                  <a:solidFill>
                    <a:schemeClr val="accent1"/>
                  </a:solidFill>
                </a:rPr>
                <a:t>谢谢大家！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03886" y="5892235"/>
              <a:ext cx="3306999" cy="612114"/>
              <a:chOff x="928986" y="5797246"/>
              <a:chExt cx="3306999" cy="612114"/>
            </a:xfrm>
          </p:grpSpPr>
          <p:sp>
            <p:nvSpPr>
              <p:cNvPr id="14" name="文本框 22"/>
              <p:cNvSpPr txBox="1"/>
              <p:nvPr/>
            </p:nvSpPr>
            <p:spPr>
              <a:xfrm>
                <a:off x="1209649" y="5810363"/>
                <a:ext cx="3026336" cy="598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汇报人：</a:t>
                </a:r>
                <a:r>
                  <a:rPr lang="zh-CN" altLang="en-US" sz="14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李一宁、包家欣</a:t>
                </a:r>
                <a:r>
                  <a:rPr lang="zh-CN" sz="14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、</a:t>
                </a:r>
                <a:r>
                  <a:rPr lang="zh-CN" altLang="en-US" sz="14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李光哲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speaker-giving-a-lecture-on-a-stand_33708"/>
              <p:cNvSpPr/>
              <p:nvPr/>
            </p:nvSpPr>
            <p:spPr bwMode="auto">
              <a:xfrm>
                <a:off x="928986" y="5797246"/>
                <a:ext cx="280838" cy="280413"/>
              </a:xfrm>
              <a:custGeom>
                <a:avLst/>
                <a:gdLst>
                  <a:gd name="T0" fmla="*/ 1098 w 1098"/>
                  <a:gd name="T1" fmla="*/ 839 h 1048"/>
                  <a:gd name="T2" fmla="*/ 1098 w 1098"/>
                  <a:gd name="T3" fmla="*/ 1048 h 1048"/>
                  <a:gd name="T4" fmla="*/ 0 w 1098"/>
                  <a:gd name="T5" fmla="*/ 1048 h 1048"/>
                  <a:gd name="T6" fmla="*/ 0 w 1098"/>
                  <a:gd name="T7" fmla="*/ 839 h 1048"/>
                  <a:gd name="T8" fmla="*/ 891 w 1098"/>
                  <a:gd name="T9" fmla="*/ 839 h 1048"/>
                  <a:gd name="T10" fmla="*/ 856 w 1098"/>
                  <a:gd name="T11" fmla="*/ 707 h 1048"/>
                  <a:gd name="T12" fmla="*/ 743 w 1098"/>
                  <a:gd name="T13" fmla="*/ 653 h 1048"/>
                  <a:gd name="T14" fmla="*/ 722 w 1098"/>
                  <a:gd name="T15" fmla="*/ 666 h 1048"/>
                  <a:gd name="T16" fmla="*/ 679 w 1098"/>
                  <a:gd name="T17" fmla="*/ 666 h 1048"/>
                  <a:gd name="T18" fmla="*/ 655 w 1098"/>
                  <a:gd name="T19" fmla="*/ 641 h 1048"/>
                  <a:gd name="T20" fmla="*/ 679 w 1098"/>
                  <a:gd name="T21" fmla="*/ 617 h 1048"/>
                  <a:gd name="T22" fmla="*/ 722 w 1098"/>
                  <a:gd name="T23" fmla="*/ 617 h 1048"/>
                  <a:gd name="T24" fmla="*/ 745 w 1098"/>
                  <a:gd name="T25" fmla="*/ 634 h 1048"/>
                  <a:gd name="T26" fmla="*/ 871 w 1098"/>
                  <a:gd name="T27" fmla="*/ 696 h 1048"/>
                  <a:gd name="T28" fmla="*/ 910 w 1098"/>
                  <a:gd name="T29" fmla="*/ 839 h 1048"/>
                  <a:gd name="T30" fmla="*/ 1098 w 1098"/>
                  <a:gd name="T31" fmla="*/ 839 h 1048"/>
                  <a:gd name="T32" fmla="*/ 1098 w 1098"/>
                  <a:gd name="T33" fmla="*/ 839 h 1048"/>
                  <a:gd name="T34" fmla="*/ 549 w 1098"/>
                  <a:gd name="T35" fmla="*/ 459 h 1048"/>
                  <a:gd name="T36" fmla="*/ 778 w 1098"/>
                  <a:gd name="T37" fmla="*/ 229 h 1048"/>
                  <a:gd name="T38" fmla="*/ 549 w 1098"/>
                  <a:gd name="T39" fmla="*/ 0 h 1048"/>
                  <a:gd name="T40" fmla="*/ 320 w 1098"/>
                  <a:gd name="T41" fmla="*/ 229 h 1048"/>
                  <a:gd name="T42" fmla="*/ 549 w 1098"/>
                  <a:gd name="T43" fmla="*/ 459 h 1048"/>
                  <a:gd name="T44" fmla="*/ 830 w 1098"/>
                  <a:gd name="T45" fmla="*/ 729 h 1048"/>
                  <a:gd name="T46" fmla="*/ 756 w 1098"/>
                  <a:gd name="T47" fmla="*/ 690 h 1048"/>
                  <a:gd name="T48" fmla="*/ 722 w 1098"/>
                  <a:gd name="T49" fmla="*/ 701 h 1048"/>
                  <a:gd name="T50" fmla="*/ 679 w 1098"/>
                  <a:gd name="T51" fmla="*/ 701 h 1048"/>
                  <a:gd name="T52" fmla="*/ 621 w 1098"/>
                  <a:gd name="T53" fmla="*/ 643 h 1048"/>
                  <a:gd name="T54" fmla="*/ 679 w 1098"/>
                  <a:gd name="T55" fmla="*/ 585 h 1048"/>
                  <a:gd name="T56" fmla="*/ 722 w 1098"/>
                  <a:gd name="T57" fmla="*/ 585 h 1048"/>
                  <a:gd name="T58" fmla="*/ 765 w 1098"/>
                  <a:gd name="T59" fmla="*/ 605 h 1048"/>
                  <a:gd name="T60" fmla="*/ 885 w 1098"/>
                  <a:gd name="T61" fmla="*/ 663 h 1048"/>
                  <a:gd name="T62" fmla="*/ 885 w 1098"/>
                  <a:gd name="T63" fmla="*/ 659 h 1048"/>
                  <a:gd name="T64" fmla="*/ 874 w 1098"/>
                  <a:gd name="T65" fmla="*/ 607 h 1048"/>
                  <a:gd name="T66" fmla="*/ 697 w 1098"/>
                  <a:gd name="T67" fmla="*/ 437 h 1048"/>
                  <a:gd name="T68" fmla="*/ 549 w 1098"/>
                  <a:gd name="T69" fmla="*/ 496 h 1048"/>
                  <a:gd name="T70" fmla="*/ 401 w 1098"/>
                  <a:gd name="T71" fmla="*/ 437 h 1048"/>
                  <a:gd name="T72" fmla="*/ 212 w 1098"/>
                  <a:gd name="T73" fmla="*/ 681 h 1048"/>
                  <a:gd name="T74" fmla="*/ 212 w 1098"/>
                  <a:gd name="T75" fmla="*/ 807 h 1048"/>
                  <a:gd name="T76" fmla="*/ 857 w 1098"/>
                  <a:gd name="T77" fmla="*/ 807 h 1048"/>
                  <a:gd name="T78" fmla="*/ 830 w 1098"/>
                  <a:gd name="T79" fmla="*/ 729 h 10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98" h="1048">
                    <a:moveTo>
                      <a:pt x="1098" y="839"/>
                    </a:moveTo>
                    <a:lnTo>
                      <a:pt x="1098" y="1048"/>
                    </a:lnTo>
                    <a:lnTo>
                      <a:pt x="0" y="1048"/>
                    </a:lnTo>
                    <a:lnTo>
                      <a:pt x="0" y="839"/>
                    </a:lnTo>
                    <a:lnTo>
                      <a:pt x="891" y="839"/>
                    </a:lnTo>
                    <a:cubicBezTo>
                      <a:pt x="892" y="794"/>
                      <a:pt x="884" y="744"/>
                      <a:pt x="856" y="707"/>
                    </a:cubicBezTo>
                    <a:cubicBezTo>
                      <a:pt x="832" y="675"/>
                      <a:pt x="794" y="656"/>
                      <a:pt x="743" y="653"/>
                    </a:cubicBezTo>
                    <a:cubicBezTo>
                      <a:pt x="739" y="660"/>
                      <a:pt x="731" y="666"/>
                      <a:pt x="722" y="666"/>
                    </a:cubicBezTo>
                    <a:lnTo>
                      <a:pt x="679" y="666"/>
                    </a:lnTo>
                    <a:cubicBezTo>
                      <a:pt x="666" y="666"/>
                      <a:pt x="655" y="655"/>
                      <a:pt x="655" y="641"/>
                    </a:cubicBezTo>
                    <a:cubicBezTo>
                      <a:pt x="655" y="628"/>
                      <a:pt x="666" y="617"/>
                      <a:pt x="679" y="617"/>
                    </a:cubicBezTo>
                    <a:lnTo>
                      <a:pt x="722" y="617"/>
                    </a:lnTo>
                    <a:cubicBezTo>
                      <a:pt x="733" y="617"/>
                      <a:pt x="742" y="624"/>
                      <a:pt x="745" y="634"/>
                    </a:cubicBezTo>
                    <a:cubicBezTo>
                      <a:pt x="801" y="638"/>
                      <a:pt x="843" y="659"/>
                      <a:pt x="871" y="696"/>
                    </a:cubicBezTo>
                    <a:cubicBezTo>
                      <a:pt x="903" y="737"/>
                      <a:pt x="911" y="791"/>
                      <a:pt x="910" y="839"/>
                    </a:cubicBezTo>
                    <a:lnTo>
                      <a:pt x="1098" y="839"/>
                    </a:lnTo>
                    <a:lnTo>
                      <a:pt x="1098" y="839"/>
                    </a:lnTo>
                    <a:close/>
                    <a:moveTo>
                      <a:pt x="549" y="459"/>
                    </a:moveTo>
                    <a:cubicBezTo>
                      <a:pt x="676" y="459"/>
                      <a:pt x="778" y="356"/>
                      <a:pt x="778" y="229"/>
                    </a:cubicBezTo>
                    <a:cubicBezTo>
                      <a:pt x="778" y="103"/>
                      <a:pt x="676" y="0"/>
                      <a:pt x="549" y="0"/>
                    </a:cubicBezTo>
                    <a:cubicBezTo>
                      <a:pt x="423" y="0"/>
                      <a:pt x="320" y="103"/>
                      <a:pt x="320" y="229"/>
                    </a:cubicBezTo>
                    <a:cubicBezTo>
                      <a:pt x="320" y="356"/>
                      <a:pt x="423" y="459"/>
                      <a:pt x="549" y="459"/>
                    </a:cubicBezTo>
                    <a:close/>
                    <a:moveTo>
                      <a:pt x="830" y="729"/>
                    </a:moveTo>
                    <a:cubicBezTo>
                      <a:pt x="813" y="708"/>
                      <a:pt x="789" y="695"/>
                      <a:pt x="756" y="690"/>
                    </a:cubicBezTo>
                    <a:cubicBezTo>
                      <a:pt x="746" y="697"/>
                      <a:pt x="734" y="701"/>
                      <a:pt x="722" y="701"/>
                    </a:cubicBezTo>
                    <a:lnTo>
                      <a:pt x="679" y="701"/>
                    </a:lnTo>
                    <a:cubicBezTo>
                      <a:pt x="648" y="701"/>
                      <a:pt x="621" y="675"/>
                      <a:pt x="621" y="643"/>
                    </a:cubicBezTo>
                    <a:cubicBezTo>
                      <a:pt x="621" y="611"/>
                      <a:pt x="647" y="585"/>
                      <a:pt x="679" y="585"/>
                    </a:cubicBezTo>
                    <a:lnTo>
                      <a:pt x="722" y="585"/>
                    </a:lnTo>
                    <a:cubicBezTo>
                      <a:pt x="738" y="585"/>
                      <a:pt x="754" y="593"/>
                      <a:pt x="765" y="605"/>
                    </a:cubicBezTo>
                    <a:cubicBezTo>
                      <a:pt x="815" y="611"/>
                      <a:pt x="855" y="631"/>
                      <a:pt x="885" y="663"/>
                    </a:cubicBezTo>
                    <a:cubicBezTo>
                      <a:pt x="885" y="662"/>
                      <a:pt x="885" y="660"/>
                      <a:pt x="885" y="659"/>
                    </a:cubicBezTo>
                    <a:lnTo>
                      <a:pt x="874" y="607"/>
                    </a:lnTo>
                    <a:cubicBezTo>
                      <a:pt x="849" y="524"/>
                      <a:pt x="782" y="459"/>
                      <a:pt x="697" y="437"/>
                    </a:cubicBezTo>
                    <a:cubicBezTo>
                      <a:pt x="659" y="473"/>
                      <a:pt x="606" y="496"/>
                      <a:pt x="549" y="496"/>
                    </a:cubicBezTo>
                    <a:cubicBezTo>
                      <a:pt x="492" y="496"/>
                      <a:pt x="440" y="473"/>
                      <a:pt x="401" y="437"/>
                    </a:cubicBezTo>
                    <a:cubicBezTo>
                      <a:pt x="293" y="466"/>
                      <a:pt x="212" y="564"/>
                      <a:pt x="212" y="681"/>
                    </a:cubicBezTo>
                    <a:lnTo>
                      <a:pt x="212" y="807"/>
                    </a:lnTo>
                    <a:lnTo>
                      <a:pt x="857" y="807"/>
                    </a:lnTo>
                    <a:cubicBezTo>
                      <a:pt x="853" y="775"/>
                      <a:pt x="844" y="748"/>
                      <a:pt x="830" y="72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</p:grpSp>
      <p:sp>
        <p:nvSpPr>
          <p:cNvPr id="20" name="矩形 19"/>
          <p:cNvSpPr/>
          <p:nvPr/>
        </p:nvSpPr>
        <p:spPr>
          <a:xfrm>
            <a:off x="-1" y="3792511"/>
            <a:ext cx="12191999" cy="167663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33548" y="6381340"/>
            <a:ext cx="2112008" cy="303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2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3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4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5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6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7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8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9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10.xml><?xml version="1.0" encoding="utf-8"?>
<p:tagLst xmlns:p="http://schemas.openxmlformats.org/presentationml/2006/main">
  <p:tag name="KSO_WM_DIAGRAM_VIRTUALLY_FRAME" val="{&quot;height&quot;:332.3333070866142,&quot;left&quot;:526.1914960629922,&quot;top&quot;:130.66692913385828,&quot;width&quot;:435.7207086614173}"/>
</p:tagLst>
</file>

<file path=ppt/tags/tag11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12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13.xml><?xml version="1.0" encoding="utf-8"?>
<p:tagLst xmlns:p="http://schemas.openxmlformats.org/presentationml/2006/main">
  <p:tag name="KSO_WM_DIAGRAM_VIRTUALLY_FRAME" val="{&quot;height&quot;:477.16393700787404,&quot;left&quot;:113.1396062992126,&quot;top&quot;:54.18212598425197,&quot;width&quot;:741.9804724409448}"/>
</p:tagLst>
</file>

<file path=ppt/tags/tag14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15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16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17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18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19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20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21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22.xml><?xml version="1.0" encoding="utf-8"?>
<p:tagLst xmlns:p="http://schemas.openxmlformats.org/presentationml/2006/main">
  <p:tag name="KSO_WM_DIAGRAM_VIRTUALLY_FRAME" val="{&quot;height&quot;:477.16393700787404,&quot;left&quot;:53.453307086614174,&quot;top&quot;:54.18212598425197,&quot;width&quot;:885.224409448819}"/>
</p:tagLst>
</file>

<file path=ppt/tags/tag23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24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25.xml><?xml version="1.0" encoding="utf-8"?>
<p:tagLst xmlns:p="http://schemas.openxmlformats.org/presentationml/2006/main">
  <p:tag name="KSO_WM_DIAGRAM_VIRTUALLY_FRAME" val="{&quot;height&quot;:382.6956692913386,&quot;left&quot;:336.5713385826772,&quot;top&quot;:92.45669291338582,&quot;width&quot;:580.0633858267717}"/>
</p:tagLst>
</file>

<file path=ppt/tags/tag26.xml><?xml version="1.0" encoding="utf-8"?>
<p:tagLst xmlns:p="http://schemas.openxmlformats.org/presentationml/2006/main">
  <p:tag name="KSO_WM_DIAGRAM_VIRTUALLY_FRAME" val="{&quot;height&quot;:477.16393700787404,&quot;left&quot;:53.453307086614174,&quot;top&quot;:54.18212598425197,&quot;width&quot;:885.224409448819}"/>
</p:tagLst>
</file>

<file path=ppt/tags/tag27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8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29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0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1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2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3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4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5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6.xml><?xml version="1.0" encoding="utf-8"?>
<p:tagLst xmlns:p="http://schemas.openxmlformats.org/presentationml/2006/main">
  <p:tag name="KSO_WM_DIAGRAM_VIRTUALLY_FRAME" val="{&quot;height&quot;:465.5664566929134,&quot;left&quot;:443.8063779527559,&quot;top&quot;:112.4727559055118,&quot;width&quot;:449.2821259842519}"/>
</p:tagLst>
</file>

<file path=ppt/tags/tag37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38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39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0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1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2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3.xml><?xml version="1.0" encoding="utf-8"?>
<p:tagLst xmlns:p="http://schemas.openxmlformats.org/presentationml/2006/main">
  <p:tag name="KSO_WM_DIAGRAM_VIRTUALLY_FRAME" val="{&quot;height&quot;:437.513937007874,&quot;left&quot;:115.71543307086613,&quot;top&quot;:95.18212598425197,&quot;width&quot;:721.8857480314961}"/>
</p:tagLst>
</file>

<file path=ppt/tags/tag44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5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6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7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8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49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0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1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2.xml><?xml version="1.0" encoding="utf-8"?>
<p:tagLst xmlns:p="http://schemas.openxmlformats.org/presentationml/2006/main">
  <p:tag name="KSO_WM_DIAGRAM_VIRTUALLY_FRAME" val="{&quot;height&quot;:437.513937007874,&quot;left&quot;:115.71543307086613,&quot;top&quot;:95.18212598425197,&quot;width&quot;:721.8857480314961}"/>
</p:tagLst>
</file>

<file path=ppt/tags/tag53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4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5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6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7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8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59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60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61.xml><?xml version="1.0" encoding="utf-8"?>
<p:tagLst xmlns:p="http://schemas.openxmlformats.org/presentationml/2006/main">
  <p:tag name="KSO_WM_DIAGRAM_VIRTUALLY_FRAME" val="{&quot;height&quot;:437.513937007874,&quot;left&quot;:115.71543307086613,&quot;top&quot;:95.18212598425197,&quot;width&quot;:721.8857480314961}"/>
</p:tagLst>
</file>

<file path=ppt/tags/tag62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63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64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65.xml><?xml version="1.0" encoding="utf-8"?>
<p:tagLst xmlns:p="http://schemas.openxmlformats.org/presentationml/2006/main">
  <p:tag name="KSO_WM_DIAGRAM_VIRTUALLY_FRAME" val="{&quot;height&quot;:550.3629921259843,&quot;left&quot;:-108.57141732283465,&quot;top&quot;:84.71377952755905,&quot;width&quot;:1188.9770078740157}"/>
</p:tagLst>
</file>

<file path=ppt/tags/tag66.xml><?xml version="1.0" encoding="utf-8"?>
<p:tagLst xmlns:p="http://schemas.openxmlformats.org/presentationml/2006/main">
  <p:tag name="KSO_WM_DIAGRAM_VIRTUALLY_FRAME" val="{&quot;height&quot;:477.16393700787404,&quot;left&quot;:23.606456692913387,&quot;top&quot;:54.18212598425197,&quot;width&quot;:915.0712598425198}"/>
</p:tagLst>
</file>

<file path=ppt/tags/tag67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68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69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0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1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2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3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4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5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6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7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ags/tag78.xml><?xml version="1.0" encoding="utf-8"?>
<p:tagLst xmlns:p="http://schemas.openxmlformats.org/presentationml/2006/main">
  <p:tag name="KSO_WM_DIAGRAM_VIRTUALLY_FRAME" val="{&quot;height&quot;:614.117874015748,&quot;left&quot;:23.606456692913387,&quot;top&quot;:54.18212598425197,&quot;width&quot;:915.0712598425198}"/>
</p:tagLst>
</file>

<file path=ppt/theme/theme1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026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6B026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">
  <a:themeElements>
    <a:clrScheme name="自定义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026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6B0261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B0261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6B026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6B0261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6B026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WPS 演示</Application>
  <PresentationFormat>宽屏</PresentationFormat>
  <Paragraphs>115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11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Arial Black</vt:lpstr>
      <vt:lpstr>Wingdings 2</vt:lpstr>
      <vt:lpstr>幼圆</vt:lpstr>
      <vt:lpstr>Calibri</vt:lpstr>
      <vt:lpstr>等线</vt:lpstr>
      <vt:lpstr>思源黑体 CN Regular</vt:lpstr>
      <vt:lpstr>黑体</vt:lpstr>
      <vt:lpstr>Roboto Regular</vt:lpstr>
      <vt:lpstr>Roboto Regular </vt:lpstr>
      <vt:lpstr>Arial Unicode MS</vt:lpstr>
      <vt:lpstr>等线 Light</vt:lpstr>
      <vt:lpstr>FFont-Family</vt:lpstr>
      <vt:lpstr>方正大黑体_GBK</vt:lpstr>
      <vt:lpstr>Oxford Regular</vt:lpstr>
      <vt:lpstr>1_Office 主题​​</vt:lpstr>
      <vt:lpstr>第一PPT，www.1ppt.com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李一宁</cp:lastModifiedBy>
  <cp:revision>98</cp:revision>
  <dcterms:created xsi:type="dcterms:W3CDTF">2020-12-04T11:45:00Z</dcterms:created>
  <dcterms:modified xsi:type="dcterms:W3CDTF">2026-06-03T15:51:32Z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1BF05343E7C447D1932992D44835DDE5_12</vt:lpwstr>
  </property>
  <property fmtid="{D5CDD505-2E9C-101B-9397-08002B2CF9AE}" pid="3" name="KSOProductBuildVer">
    <vt:lpwstr>2052-12.1.0.23125</vt:lpwstr>
  </property>
</Properties>
</file>